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71" r:id="rId3"/>
    <p:sldId id="257" r:id="rId4"/>
    <p:sldId id="258" r:id="rId5"/>
    <p:sldId id="259" r:id="rId6"/>
    <p:sldId id="272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8288000" cy="10287000"/>
  <p:notesSz cx="6858000" cy="9144000"/>
  <p:embeddedFontLst>
    <p:embeddedFont>
      <p:font typeface="Aharoni CLM" panose="020B0604020202020204" charset="-79"/>
      <p:regular r:id="rId19"/>
    </p:embeddedFont>
    <p:embeddedFont>
      <p:font typeface="Aharoni CLM Bold" panose="020B0604020202020204" charset="-79"/>
      <p:regular r:id="rId20"/>
    </p:embeddedFont>
    <p:embeddedFont>
      <p:font typeface="Baloo Chettan" panose="020B0604020202020204" charset="0"/>
      <p:regular r:id="rId21"/>
    </p:embeddedFont>
    <p:embeddedFont>
      <p:font typeface="Canva Sans" panose="020B0604020202020204" charset="0"/>
      <p:regular r:id="rId22"/>
    </p:embeddedFont>
    <p:embeddedFont>
      <p:font typeface="Canva Sans Bold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16" autoAdjust="0"/>
    <p:restoredTop sz="94622" autoAdjust="0"/>
  </p:normalViewPr>
  <p:slideViewPr>
    <p:cSldViewPr>
      <p:cViewPr>
        <p:scale>
          <a:sx n="60" d="100"/>
          <a:sy n="60" d="100"/>
        </p:scale>
        <p:origin x="276" y="3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898073" y="643671"/>
            <a:ext cx="3137881" cy="770057"/>
          </a:xfrm>
          <a:custGeom>
            <a:avLst/>
            <a:gdLst/>
            <a:ahLst/>
            <a:cxnLst/>
            <a:rect l="l" t="t" r="r" b="b"/>
            <a:pathLst>
              <a:path w="3137881" h="770057">
                <a:moveTo>
                  <a:pt x="3137881" y="0"/>
                </a:moveTo>
                <a:lnTo>
                  <a:pt x="0" y="0"/>
                </a:lnTo>
                <a:lnTo>
                  <a:pt x="0" y="770058"/>
                </a:lnTo>
                <a:lnTo>
                  <a:pt x="3137881" y="770058"/>
                </a:lnTo>
                <a:lnTo>
                  <a:pt x="313788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232199" y="6854448"/>
            <a:ext cx="9741186" cy="911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Chipo Sekabanja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7164" y="1917919"/>
            <a:ext cx="16692136" cy="4136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41"/>
              </a:lnSpc>
            </a:pPr>
            <a:r>
              <a:rPr lang="en-US" sz="11886">
                <a:solidFill>
                  <a:srgbClr val="276655"/>
                </a:solidFill>
                <a:latin typeface="Baloo Chettan"/>
                <a:ea typeface="Baloo Chettan"/>
                <a:cs typeface="Baloo Chettan"/>
                <a:sym typeface="Baloo Chettan"/>
              </a:rPr>
              <a:t>EVALUATING CHUNKING STRATEGIES FOR RAG </a:t>
            </a:r>
          </a:p>
        </p:txBody>
      </p:sp>
      <p:sp>
        <p:nvSpPr>
          <p:cNvPr id="5" name="Freeform 5"/>
          <p:cNvSpPr/>
          <p:nvPr/>
        </p:nvSpPr>
        <p:spPr>
          <a:xfrm>
            <a:off x="-1665421" y="7421429"/>
            <a:ext cx="3673741" cy="3673741"/>
          </a:xfrm>
          <a:custGeom>
            <a:avLst/>
            <a:gdLst/>
            <a:ahLst/>
            <a:cxnLst/>
            <a:rect l="l" t="t" r="r" b="b"/>
            <a:pathLst>
              <a:path w="3673741" h="3673741">
                <a:moveTo>
                  <a:pt x="0" y="0"/>
                </a:moveTo>
                <a:lnTo>
                  <a:pt x="3673742" y="0"/>
                </a:lnTo>
                <a:lnTo>
                  <a:pt x="3673742" y="3673742"/>
                </a:lnTo>
                <a:lnTo>
                  <a:pt x="0" y="367374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2420121">
            <a:off x="-2540784" y="8218689"/>
            <a:ext cx="7627869" cy="7712000"/>
          </a:xfrm>
          <a:custGeom>
            <a:avLst/>
            <a:gdLst/>
            <a:ahLst/>
            <a:cxnLst/>
            <a:rect l="l" t="t" r="r" b="b"/>
            <a:pathLst>
              <a:path w="7627869" h="7712000">
                <a:moveTo>
                  <a:pt x="0" y="0"/>
                </a:moveTo>
                <a:lnTo>
                  <a:pt x="7627869" y="0"/>
                </a:lnTo>
                <a:lnTo>
                  <a:pt x="7627869" y="7712000"/>
                </a:lnTo>
                <a:lnTo>
                  <a:pt x="0" y="77120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7354451" y="2387025"/>
            <a:ext cx="5860513" cy="4999236"/>
          </a:xfrm>
          <a:custGeom>
            <a:avLst/>
            <a:gdLst/>
            <a:ahLst/>
            <a:cxnLst/>
            <a:rect l="l" t="t" r="r" b="b"/>
            <a:pathLst>
              <a:path w="5860513" h="4999236">
                <a:moveTo>
                  <a:pt x="0" y="0"/>
                </a:moveTo>
                <a:lnTo>
                  <a:pt x="5860513" y="0"/>
                </a:lnTo>
                <a:lnTo>
                  <a:pt x="5860513" y="4999235"/>
                </a:lnTo>
                <a:lnTo>
                  <a:pt x="0" y="49992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276933" y="-3472657"/>
            <a:ext cx="5264450" cy="4762458"/>
          </a:xfrm>
          <a:custGeom>
            <a:avLst/>
            <a:gdLst/>
            <a:ahLst/>
            <a:cxnLst/>
            <a:rect l="l" t="t" r="r" b="b"/>
            <a:pathLst>
              <a:path w="5264450" h="4762458">
                <a:moveTo>
                  <a:pt x="0" y="0"/>
                </a:moveTo>
                <a:lnTo>
                  <a:pt x="5264449" y="0"/>
                </a:lnTo>
                <a:lnTo>
                  <a:pt x="5264449" y="4762457"/>
                </a:lnTo>
                <a:lnTo>
                  <a:pt x="0" y="476245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9058577">
            <a:off x="15460292" y="7254551"/>
            <a:ext cx="5655415" cy="5776361"/>
          </a:xfrm>
          <a:custGeom>
            <a:avLst/>
            <a:gdLst/>
            <a:ahLst/>
            <a:cxnLst/>
            <a:rect l="l" t="t" r="r" b="b"/>
            <a:pathLst>
              <a:path w="5655415" h="5776361">
                <a:moveTo>
                  <a:pt x="0" y="0"/>
                </a:moveTo>
                <a:lnTo>
                  <a:pt x="5655416" y="0"/>
                </a:lnTo>
                <a:lnTo>
                  <a:pt x="5655416" y="5776361"/>
                </a:lnTo>
                <a:lnTo>
                  <a:pt x="0" y="577636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2886910">
            <a:off x="12428540" y="9630662"/>
            <a:ext cx="1911047" cy="1881079"/>
          </a:xfrm>
          <a:custGeom>
            <a:avLst/>
            <a:gdLst/>
            <a:ahLst/>
            <a:cxnLst/>
            <a:rect l="l" t="t" r="r" b="b"/>
            <a:pathLst>
              <a:path w="1911047" h="1881079">
                <a:moveTo>
                  <a:pt x="0" y="0"/>
                </a:moveTo>
                <a:lnTo>
                  <a:pt x="1911047" y="0"/>
                </a:lnTo>
                <a:lnTo>
                  <a:pt x="1911047" y="1881079"/>
                </a:lnTo>
                <a:lnTo>
                  <a:pt x="0" y="188107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4232199" y="7698998"/>
            <a:ext cx="974118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276655"/>
                </a:solidFill>
                <a:latin typeface="Canva Sans"/>
                <a:ea typeface="Canva Sans"/>
                <a:cs typeface="Canva Sans"/>
                <a:sym typeface="Canva Sans"/>
              </a:rPr>
              <a:t>CIS 530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>
                <a:solidFill>
                  <a:srgbClr val="276655"/>
                </a:solidFill>
                <a:latin typeface="Aharoni CLM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24264" y="54900"/>
            <a:ext cx="16692136" cy="120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6000" dirty="0">
                <a:solidFill>
                  <a:srgbClr val="276655"/>
                </a:solidFill>
                <a:latin typeface="Baloo Chettan"/>
              </a:rPr>
              <a:t>TABLE OF CONTENTS</a:t>
            </a:r>
          </a:p>
        </p:txBody>
      </p:sp>
      <p:sp>
        <p:nvSpPr>
          <p:cNvPr id="3" name="TOCLeft"/>
          <p:cNvSpPr txBox="1"/>
          <p:nvPr/>
        </p:nvSpPr>
        <p:spPr>
          <a:xfrm>
            <a:off x="861440" y="952500"/>
            <a:ext cx="8500000" cy="9054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2 : Why Chunking Matters</a:t>
            </a:r>
          </a:p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3 : Three Pipelines Overview</a:t>
            </a:r>
          </a:p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4 : Dataset (EDGAR-CORPUS)</a:t>
            </a:r>
          </a:p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5 : Background &amp; Related Work</a:t>
            </a:r>
          </a:p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6 : Semantic Chunking Results</a:t>
            </a:r>
          </a:p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7 : Semantic Chunking Process</a:t>
            </a:r>
          </a:p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8 : Alternative Pipeline (Diagram)</a:t>
            </a:r>
          </a:p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9 : Alternative Pipeline (Detail)</a:t>
            </a:r>
          </a:p>
        </p:txBody>
      </p:sp>
      <p:sp>
        <p:nvSpPr>
          <p:cNvPr id="4" name="TOCRight"/>
          <p:cNvSpPr txBox="1"/>
          <p:nvPr/>
        </p:nvSpPr>
        <p:spPr>
          <a:xfrm>
            <a:off x="9361440" y="952500"/>
            <a:ext cx="8800000" cy="9054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10 : RAGAS Results</a:t>
            </a:r>
          </a:p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11 : Results by Tier</a:t>
            </a:r>
          </a:p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12 : Benchmark Statistics</a:t>
            </a:r>
          </a:p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13 : Failure Analysis</a:t>
            </a:r>
          </a:p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14 : Precision vs Latency</a:t>
            </a:r>
          </a:p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15 : Challenges Encountered</a:t>
            </a:r>
          </a:p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16 : Key Findings</a:t>
            </a:r>
          </a:p>
          <a:p>
            <a:pPr algn="l">
              <a:lnSpc>
                <a:spcPts val="9000"/>
              </a:lnSpc>
              <a:buFont typeface="Arial"/>
              <a:buChar char="•"/>
            </a:pPr>
            <a:r>
              <a:rPr lang="en-US" sz="3000" dirty="0">
                <a:solidFill>
                  <a:srgbClr val="276655"/>
                </a:solidFill>
                <a:latin typeface="Aharoni CLM"/>
              </a:rPr>
              <a:t> Slide 17 : Next Steps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6916400" y="91821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3600" dirty="0">
                <a:solidFill>
                  <a:srgbClr val="276655"/>
                </a:solidFill>
                <a:latin typeface="Aharoni CLM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898073" y="643671"/>
            <a:ext cx="3137881" cy="770057"/>
          </a:xfrm>
          <a:custGeom>
            <a:avLst/>
            <a:gdLst/>
            <a:ahLst/>
            <a:cxnLst/>
            <a:rect l="l" t="t" r="r" b="b"/>
            <a:pathLst>
              <a:path w="3137881" h="770057">
                <a:moveTo>
                  <a:pt x="3137881" y="0"/>
                </a:moveTo>
                <a:lnTo>
                  <a:pt x="0" y="0"/>
                </a:lnTo>
                <a:lnTo>
                  <a:pt x="0" y="770058"/>
                </a:lnTo>
                <a:lnTo>
                  <a:pt x="3137881" y="770058"/>
                </a:lnTo>
                <a:lnTo>
                  <a:pt x="313788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67164" y="1984594"/>
            <a:ext cx="1669213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276655"/>
                </a:solidFill>
                <a:latin typeface="Baloo Chettan"/>
                <a:ea typeface="Baloo Chettan"/>
                <a:cs typeface="Baloo Chettan"/>
                <a:sym typeface="Baloo Chettan"/>
              </a:rPr>
              <a:t>WHY CHUNKING MATTERS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160855" y="4335172"/>
            <a:ext cx="4189241" cy="454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20"/>
              </a:lnSpc>
            </a:pPr>
            <a:r>
              <a:rPr lang="en-US" sz="3000">
                <a:solidFill>
                  <a:srgbClr val="276655"/>
                </a:solidFill>
                <a:latin typeface="Canva Sans"/>
                <a:ea typeface="Canva Sans"/>
                <a:cs typeface="Canva Sans"/>
                <a:sym typeface="Canva Sans"/>
              </a:rPr>
              <a:t>LLMs hallucinate when they don't know something. RAG fixes this by retrieving relevant passages first.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842350" y="3963591"/>
            <a:ext cx="5018553" cy="454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20"/>
              </a:lnSpc>
            </a:pPr>
            <a:r>
              <a:rPr lang="en-US" sz="3000">
                <a:solidFill>
                  <a:srgbClr val="276655"/>
                </a:solidFill>
                <a:latin typeface="Canva Sans"/>
                <a:ea typeface="Canva Sans"/>
                <a:cs typeface="Canva Sans"/>
                <a:sym typeface="Canva Sans"/>
              </a:rPr>
              <a:t>Fixed-size chunking ignores document structure. SEC 10K filings have 20 legally defined sections. Splitting mid-sentence destroys retrieval quality.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6759300" y="91821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3600" dirty="0">
                <a:solidFill>
                  <a:srgbClr val="276655"/>
                </a:solidFill>
                <a:latin typeface="Aharoni CLM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898073" y="643671"/>
            <a:ext cx="3137881" cy="770057"/>
          </a:xfrm>
          <a:custGeom>
            <a:avLst/>
            <a:gdLst/>
            <a:ahLst/>
            <a:cxnLst/>
            <a:rect l="l" t="t" r="r" b="b"/>
            <a:pathLst>
              <a:path w="3137881" h="770057">
                <a:moveTo>
                  <a:pt x="3137881" y="0"/>
                </a:moveTo>
                <a:lnTo>
                  <a:pt x="0" y="0"/>
                </a:lnTo>
                <a:lnTo>
                  <a:pt x="0" y="770058"/>
                </a:lnTo>
                <a:lnTo>
                  <a:pt x="3137881" y="770058"/>
                </a:lnTo>
                <a:lnTo>
                  <a:pt x="313788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67164" y="1984594"/>
            <a:ext cx="1669213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276655"/>
                </a:solidFill>
                <a:latin typeface="Baloo Chettan"/>
                <a:ea typeface="Baloo Chettan"/>
                <a:cs typeface="Baloo Chettan"/>
                <a:sym typeface="Baloo Chettan"/>
              </a:rPr>
              <a:t>PIPELINES</a:t>
            </a:r>
          </a:p>
        </p:txBody>
      </p:sp>
      <p:sp>
        <p:nvSpPr>
          <p:cNvPr id="4" name="Freeform 4"/>
          <p:cNvSpPr/>
          <p:nvPr/>
        </p:nvSpPr>
        <p:spPr>
          <a:xfrm>
            <a:off x="-1630752" y="7542771"/>
            <a:ext cx="3673741" cy="3673741"/>
          </a:xfrm>
          <a:custGeom>
            <a:avLst/>
            <a:gdLst/>
            <a:ahLst/>
            <a:cxnLst/>
            <a:rect l="l" t="t" r="r" b="b"/>
            <a:pathLst>
              <a:path w="3673741" h="3673741">
                <a:moveTo>
                  <a:pt x="0" y="0"/>
                </a:moveTo>
                <a:lnTo>
                  <a:pt x="3673742" y="0"/>
                </a:lnTo>
                <a:lnTo>
                  <a:pt x="3673742" y="3673742"/>
                </a:lnTo>
                <a:lnTo>
                  <a:pt x="0" y="367374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2420121">
            <a:off x="-2558119" y="8790731"/>
            <a:ext cx="7627869" cy="7712000"/>
          </a:xfrm>
          <a:custGeom>
            <a:avLst/>
            <a:gdLst/>
            <a:ahLst/>
            <a:cxnLst/>
            <a:rect l="l" t="t" r="r" b="b"/>
            <a:pathLst>
              <a:path w="7627869" h="7712000">
                <a:moveTo>
                  <a:pt x="0" y="0"/>
                </a:moveTo>
                <a:lnTo>
                  <a:pt x="7627869" y="0"/>
                </a:lnTo>
                <a:lnTo>
                  <a:pt x="7627869" y="7712000"/>
                </a:lnTo>
                <a:lnTo>
                  <a:pt x="0" y="77120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354451" y="2387025"/>
            <a:ext cx="5860513" cy="4999236"/>
          </a:xfrm>
          <a:custGeom>
            <a:avLst/>
            <a:gdLst/>
            <a:ahLst/>
            <a:cxnLst/>
            <a:rect l="l" t="t" r="r" b="b"/>
            <a:pathLst>
              <a:path w="5860513" h="4999236">
                <a:moveTo>
                  <a:pt x="0" y="0"/>
                </a:moveTo>
                <a:lnTo>
                  <a:pt x="5860513" y="0"/>
                </a:lnTo>
                <a:lnTo>
                  <a:pt x="5860513" y="4999235"/>
                </a:lnTo>
                <a:lnTo>
                  <a:pt x="0" y="49992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276933" y="-3472657"/>
            <a:ext cx="5264450" cy="4762458"/>
          </a:xfrm>
          <a:custGeom>
            <a:avLst/>
            <a:gdLst/>
            <a:ahLst/>
            <a:cxnLst/>
            <a:rect l="l" t="t" r="r" b="b"/>
            <a:pathLst>
              <a:path w="5264450" h="4762458">
                <a:moveTo>
                  <a:pt x="0" y="0"/>
                </a:moveTo>
                <a:lnTo>
                  <a:pt x="5264449" y="0"/>
                </a:lnTo>
                <a:lnTo>
                  <a:pt x="5264449" y="4762457"/>
                </a:lnTo>
                <a:lnTo>
                  <a:pt x="0" y="476245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9058577">
            <a:off x="15460292" y="7254551"/>
            <a:ext cx="5655415" cy="5776361"/>
          </a:xfrm>
          <a:custGeom>
            <a:avLst/>
            <a:gdLst/>
            <a:ahLst/>
            <a:cxnLst/>
            <a:rect l="l" t="t" r="r" b="b"/>
            <a:pathLst>
              <a:path w="5655415" h="5776361">
                <a:moveTo>
                  <a:pt x="0" y="0"/>
                </a:moveTo>
                <a:lnTo>
                  <a:pt x="5655416" y="0"/>
                </a:lnTo>
                <a:lnTo>
                  <a:pt x="5655416" y="5776361"/>
                </a:lnTo>
                <a:lnTo>
                  <a:pt x="0" y="577636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2886910">
            <a:off x="12428540" y="9630662"/>
            <a:ext cx="1911047" cy="1881079"/>
          </a:xfrm>
          <a:custGeom>
            <a:avLst/>
            <a:gdLst/>
            <a:ahLst/>
            <a:cxnLst/>
            <a:rect l="l" t="t" r="r" b="b"/>
            <a:pathLst>
              <a:path w="1911047" h="1881079">
                <a:moveTo>
                  <a:pt x="0" y="0"/>
                </a:moveTo>
                <a:lnTo>
                  <a:pt x="1911047" y="0"/>
                </a:lnTo>
                <a:lnTo>
                  <a:pt x="1911047" y="1881079"/>
                </a:lnTo>
                <a:lnTo>
                  <a:pt x="0" y="188107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2606148" y="4478047"/>
            <a:ext cx="3561961" cy="161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Fixed-size baseline, 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512 tokens, 50 overlap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4,877 chunks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454721" y="4443428"/>
            <a:ext cx="4418969" cy="161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Alternative pipeline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Reranking + filtering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Cross-encoder + detector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95306" y="4443428"/>
            <a:ext cx="3604243" cy="161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Semantic baseline 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MiniLM topic splits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3,700 chunks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>
                <a:solidFill>
                  <a:srgbClr val="276655"/>
                </a:solidFill>
                <a:latin typeface="Aharoni CLM"/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03E11D-CDE8-6FFD-4117-7E3FD6D67A22}"/>
              </a:ext>
            </a:extLst>
          </p:cNvPr>
          <p:cNvSpPr txBox="1"/>
          <p:nvPr/>
        </p:nvSpPr>
        <p:spPr>
          <a:xfrm>
            <a:off x="15621000" y="8496300"/>
            <a:ext cx="76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898073" y="643671"/>
            <a:ext cx="3137881" cy="770057"/>
          </a:xfrm>
          <a:custGeom>
            <a:avLst/>
            <a:gdLst/>
            <a:ahLst/>
            <a:cxnLst/>
            <a:rect l="l" t="t" r="r" b="b"/>
            <a:pathLst>
              <a:path w="3137881" h="770057">
                <a:moveTo>
                  <a:pt x="3137881" y="0"/>
                </a:moveTo>
                <a:lnTo>
                  <a:pt x="0" y="0"/>
                </a:lnTo>
                <a:lnTo>
                  <a:pt x="0" y="770058"/>
                </a:lnTo>
                <a:lnTo>
                  <a:pt x="3137881" y="770058"/>
                </a:lnTo>
                <a:lnTo>
                  <a:pt x="313788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67164" y="1984594"/>
            <a:ext cx="1669213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276655"/>
                </a:solidFill>
                <a:latin typeface="Baloo Chettan"/>
                <a:ea typeface="Baloo Chettan"/>
                <a:cs typeface="Baloo Chettan"/>
                <a:sym typeface="Baloo Chettan"/>
              </a:rPr>
              <a:t>UNDERSTANDING THE DATASET</a:t>
            </a:r>
          </a:p>
        </p:txBody>
      </p:sp>
      <p:sp>
        <p:nvSpPr>
          <p:cNvPr id="4" name="Freeform 4"/>
          <p:cNvSpPr/>
          <p:nvPr/>
        </p:nvSpPr>
        <p:spPr>
          <a:xfrm>
            <a:off x="-1630752" y="7542771"/>
            <a:ext cx="3673741" cy="3673741"/>
          </a:xfrm>
          <a:custGeom>
            <a:avLst/>
            <a:gdLst/>
            <a:ahLst/>
            <a:cxnLst/>
            <a:rect l="l" t="t" r="r" b="b"/>
            <a:pathLst>
              <a:path w="3673741" h="3673741">
                <a:moveTo>
                  <a:pt x="0" y="0"/>
                </a:moveTo>
                <a:lnTo>
                  <a:pt x="3673742" y="0"/>
                </a:lnTo>
                <a:lnTo>
                  <a:pt x="3673742" y="3673742"/>
                </a:lnTo>
                <a:lnTo>
                  <a:pt x="0" y="367374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2420121">
            <a:off x="-2558119" y="8790731"/>
            <a:ext cx="7627869" cy="7712000"/>
          </a:xfrm>
          <a:custGeom>
            <a:avLst/>
            <a:gdLst/>
            <a:ahLst/>
            <a:cxnLst/>
            <a:rect l="l" t="t" r="r" b="b"/>
            <a:pathLst>
              <a:path w="7627869" h="7712000">
                <a:moveTo>
                  <a:pt x="0" y="0"/>
                </a:moveTo>
                <a:lnTo>
                  <a:pt x="7627869" y="0"/>
                </a:lnTo>
                <a:lnTo>
                  <a:pt x="7627869" y="7712000"/>
                </a:lnTo>
                <a:lnTo>
                  <a:pt x="0" y="77120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354451" y="2387025"/>
            <a:ext cx="5860513" cy="4999236"/>
          </a:xfrm>
          <a:custGeom>
            <a:avLst/>
            <a:gdLst/>
            <a:ahLst/>
            <a:cxnLst/>
            <a:rect l="l" t="t" r="r" b="b"/>
            <a:pathLst>
              <a:path w="5860513" h="4999236">
                <a:moveTo>
                  <a:pt x="0" y="0"/>
                </a:moveTo>
                <a:lnTo>
                  <a:pt x="5860513" y="0"/>
                </a:lnTo>
                <a:lnTo>
                  <a:pt x="5860513" y="4999235"/>
                </a:lnTo>
                <a:lnTo>
                  <a:pt x="0" y="49992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276933" y="-3472657"/>
            <a:ext cx="5264450" cy="4762458"/>
          </a:xfrm>
          <a:custGeom>
            <a:avLst/>
            <a:gdLst/>
            <a:ahLst/>
            <a:cxnLst/>
            <a:rect l="l" t="t" r="r" b="b"/>
            <a:pathLst>
              <a:path w="5264450" h="4762458">
                <a:moveTo>
                  <a:pt x="0" y="0"/>
                </a:moveTo>
                <a:lnTo>
                  <a:pt x="5264449" y="0"/>
                </a:lnTo>
                <a:lnTo>
                  <a:pt x="5264449" y="4762457"/>
                </a:lnTo>
                <a:lnTo>
                  <a:pt x="0" y="476245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9058577">
            <a:off x="15460292" y="7254551"/>
            <a:ext cx="5655415" cy="5776361"/>
          </a:xfrm>
          <a:custGeom>
            <a:avLst/>
            <a:gdLst/>
            <a:ahLst/>
            <a:cxnLst/>
            <a:rect l="l" t="t" r="r" b="b"/>
            <a:pathLst>
              <a:path w="5655415" h="5776361">
                <a:moveTo>
                  <a:pt x="0" y="0"/>
                </a:moveTo>
                <a:lnTo>
                  <a:pt x="5655416" y="0"/>
                </a:lnTo>
                <a:lnTo>
                  <a:pt x="5655416" y="5776361"/>
                </a:lnTo>
                <a:lnTo>
                  <a:pt x="0" y="577636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2886910">
            <a:off x="12428540" y="9630662"/>
            <a:ext cx="1911047" cy="1881079"/>
          </a:xfrm>
          <a:custGeom>
            <a:avLst/>
            <a:gdLst/>
            <a:ahLst/>
            <a:cxnLst/>
            <a:rect l="l" t="t" r="r" b="b"/>
            <a:pathLst>
              <a:path w="1911047" h="1881079">
                <a:moveTo>
                  <a:pt x="0" y="0"/>
                </a:moveTo>
                <a:lnTo>
                  <a:pt x="1911047" y="0"/>
                </a:lnTo>
                <a:lnTo>
                  <a:pt x="1911047" y="1881079"/>
                </a:lnTo>
                <a:lnTo>
                  <a:pt x="0" y="188107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2257424" y="3663551"/>
            <a:ext cx="13311617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sz="4500" b="1">
                <a:solidFill>
                  <a:srgbClr val="27665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EDGAR-CORPUS · 10 filings · 8 industries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53861" y="4791392"/>
            <a:ext cx="5385495" cy="428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Arcimoto (EVs)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· Heritage Financial (banking) 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· Oak Valley Bancorp (banking)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· MJ Holdings (cannabis) 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· Biopharmaceutical (pharma) 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· Joway Health (China/PRC) 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· Self-administered REIT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· Smaller reporting co. (exempt)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>
                <a:solidFill>
                  <a:srgbClr val="276655"/>
                </a:solidFill>
                <a:latin typeface="Aharoni CLM"/>
              </a:rPr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950AFE-D68B-E341-0B59-8B24FC64025E}"/>
              </a:ext>
            </a:extLst>
          </p:cNvPr>
          <p:cNvSpPr txBox="1"/>
          <p:nvPr/>
        </p:nvSpPr>
        <p:spPr>
          <a:xfrm>
            <a:off x="15621000" y="8496300"/>
            <a:ext cx="76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97932" y="400000"/>
            <a:ext cx="16692136" cy="120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6000">
                <a:solidFill>
                  <a:srgbClr val="276655"/>
                </a:solidFill>
                <a:latin typeface="Baloo Chettan"/>
              </a:rPr>
              <a:t>BACKGROUND &amp; RELATED WORK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797932" y="1300000"/>
            <a:ext cx="17351391" cy="751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2050" b="1" dirty="0">
                <a:solidFill>
                  <a:srgbClr val="276655"/>
                </a:solidFill>
                <a:latin typeface="Aharoni CLM"/>
              </a:rPr>
              <a:t>Lewis et al. (2020) — RAG Framework</a:t>
            </a:r>
          </a:p>
          <a:p>
            <a:pPr algn="l">
              <a:lnSpc>
                <a:spcPts val="7000"/>
              </a:lnSpc>
            </a:pPr>
            <a:r>
              <a:rPr lang="en-US" sz="2050" dirty="0">
                <a:solidFill>
                  <a:srgbClr val="444444"/>
                </a:solidFill>
                <a:latin typeface="Aharoni CLM"/>
              </a:rPr>
              <a:t>Introduced dense retrieval + seq2seq generation. Grounding LLM outputs in retrieved documents reduces hallucination on knowledge-intensive tasks.</a:t>
            </a:r>
            <a:r>
              <a:rPr lang="en-US" sz="2050" dirty="0">
                <a:solidFill>
                  <a:srgbClr val="FDFEFD"/>
                </a:solidFill>
              </a:rPr>
              <a:t> </a:t>
            </a:r>
          </a:p>
          <a:p>
            <a:pPr algn="l">
              <a:lnSpc>
                <a:spcPts val="8000"/>
              </a:lnSpc>
            </a:pPr>
            <a:r>
              <a:rPr lang="en-US" sz="2050" b="1" dirty="0">
                <a:solidFill>
                  <a:srgbClr val="276655"/>
                </a:solidFill>
                <a:latin typeface="Aharoni CLM"/>
              </a:rPr>
              <a:t>Es et al. (2023) — RAGAS Evaluation</a:t>
            </a:r>
          </a:p>
          <a:p>
            <a:pPr algn="l">
              <a:lnSpc>
                <a:spcPts val="7000"/>
              </a:lnSpc>
            </a:pPr>
            <a:r>
              <a:rPr lang="en-US" sz="2050" dirty="0">
                <a:solidFill>
                  <a:srgbClr val="444444"/>
                </a:solidFill>
                <a:latin typeface="Aharoni CLM"/>
              </a:rPr>
              <a:t>Reference-free RAG evaluation: Faithfulness, Answer Relevancy, Context Precision, Context Recall. LLM-as-judge scoring without human annotation.</a:t>
            </a:r>
            <a:r>
              <a:rPr lang="en-US" sz="2050" dirty="0">
                <a:solidFill>
                  <a:srgbClr val="FDFEFD"/>
                </a:solidFill>
              </a:rPr>
              <a:t> </a:t>
            </a:r>
          </a:p>
          <a:p>
            <a:pPr algn="l">
              <a:lnSpc>
                <a:spcPts val="8000"/>
              </a:lnSpc>
            </a:pPr>
            <a:r>
              <a:rPr lang="en-US" sz="2050" b="1" dirty="0">
                <a:solidFill>
                  <a:srgbClr val="276655"/>
                </a:solidFill>
                <a:latin typeface="Aharoni CLM"/>
              </a:rPr>
              <a:t>Loukas et al. (2021) — EDGAR-CORPUS</a:t>
            </a:r>
          </a:p>
          <a:p>
            <a:pPr algn="l">
              <a:lnSpc>
                <a:spcPts val="7000"/>
              </a:lnSpc>
            </a:pPr>
            <a:r>
              <a:rPr lang="en-US" sz="2050" dirty="0">
                <a:solidFill>
                  <a:srgbClr val="444444"/>
                </a:solidFill>
                <a:latin typeface="Aharoni CLM"/>
              </a:rPr>
              <a:t>6,500+ SEC 10-K filings pre-split into 20 structured sections. Financial NLP requires domain-specific preprocessing due to heterogeneous structure and dense numerical content.</a:t>
            </a:r>
          </a:p>
          <a:p>
            <a:pPr algn="l">
              <a:lnSpc>
                <a:spcPts val="8000"/>
              </a:lnSpc>
            </a:pPr>
            <a:r>
              <a:rPr lang="en-US" sz="2050" dirty="0">
                <a:solidFill>
                  <a:srgbClr val="FDFEFD"/>
                </a:solidFill>
              </a:rPr>
              <a:t> </a:t>
            </a:r>
            <a:r>
              <a:rPr lang="en-US" sz="2050" b="1" dirty="0">
                <a:solidFill>
                  <a:srgbClr val="276655"/>
                </a:solidFill>
                <a:latin typeface="Aharoni CLM"/>
              </a:rPr>
              <a:t>This project differs: </a:t>
            </a:r>
            <a:r>
              <a:rPr lang="en-US" sz="2050" dirty="0">
                <a:solidFill>
                  <a:srgbClr val="444444"/>
                </a:solidFill>
                <a:latin typeface="Aharoni CLM"/>
              </a:rPr>
              <a:t>systematic retrieval failure classification + controlled chunking comparison on a domain-specific financial benchmark.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>
                <a:solidFill>
                  <a:srgbClr val="276655"/>
                </a:solidFill>
                <a:latin typeface="Aharoni CLM"/>
              </a:rPr>
              <a:t>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F680BB-EB4F-4FAF-7628-3D029BE818E8}"/>
              </a:ext>
            </a:extLst>
          </p:cNvPr>
          <p:cNvSpPr txBox="1"/>
          <p:nvPr/>
        </p:nvSpPr>
        <p:spPr>
          <a:xfrm>
            <a:off x="16938000" y="9200408"/>
            <a:ext cx="76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863404" y="0"/>
            <a:ext cx="3137881" cy="770057"/>
          </a:xfrm>
          <a:custGeom>
            <a:avLst/>
            <a:gdLst/>
            <a:ahLst/>
            <a:cxnLst/>
            <a:rect l="l" t="t" r="r" b="b"/>
            <a:pathLst>
              <a:path w="3137881" h="770057">
                <a:moveTo>
                  <a:pt x="3137881" y="0"/>
                </a:moveTo>
                <a:lnTo>
                  <a:pt x="0" y="0"/>
                </a:lnTo>
                <a:lnTo>
                  <a:pt x="0" y="770057"/>
                </a:lnTo>
                <a:lnTo>
                  <a:pt x="3137881" y="770057"/>
                </a:lnTo>
                <a:lnTo>
                  <a:pt x="313788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493371" y="1794025"/>
            <a:ext cx="13407475" cy="6636700"/>
          </a:xfrm>
          <a:custGeom>
            <a:avLst/>
            <a:gdLst/>
            <a:ahLst/>
            <a:cxnLst/>
            <a:rect l="l" t="t" r="r" b="b"/>
            <a:pathLst>
              <a:path w="13407475" h="6636700">
                <a:moveTo>
                  <a:pt x="0" y="0"/>
                </a:moveTo>
                <a:lnTo>
                  <a:pt x="13407474" y="0"/>
                </a:lnTo>
                <a:lnTo>
                  <a:pt x="13407474" y="6636700"/>
                </a:lnTo>
                <a:lnTo>
                  <a:pt x="0" y="66367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67164" y="416075"/>
            <a:ext cx="1669213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276655"/>
                </a:solidFill>
                <a:latin typeface="Baloo Chettan"/>
                <a:ea typeface="Baloo Chettan"/>
                <a:cs typeface="Baloo Chettan"/>
                <a:sym typeface="Baloo Chettan"/>
              </a:rPr>
              <a:t>SEMANTIC CHUNKING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-36323" y="8834631"/>
            <a:ext cx="3396227" cy="1206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 b="1">
                <a:solidFill>
                  <a:srgbClr val="27665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Cuts noise by 24%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12485" y="8815581"/>
            <a:ext cx="4633417" cy="1327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4,877 -&gt; 3,700 total chunks 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$0.0195 -&gt; $0.0148 embedding cost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53s -&gt; 27s index build time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>
                <a:solidFill>
                  <a:srgbClr val="276655"/>
                </a:solidFill>
                <a:latin typeface="Aharoni CLM"/>
              </a:rPr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F0D9A6-BB3E-BDEB-10A5-DE4E1E1ABBD4}"/>
              </a:ext>
            </a:extLst>
          </p:cNvPr>
          <p:cNvSpPr txBox="1"/>
          <p:nvPr/>
        </p:nvSpPr>
        <p:spPr>
          <a:xfrm>
            <a:off x="16519846" y="9387180"/>
            <a:ext cx="76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898073" y="643671"/>
            <a:ext cx="3137881" cy="770057"/>
          </a:xfrm>
          <a:custGeom>
            <a:avLst/>
            <a:gdLst/>
            <a:ahLst/>
            <a:cxnLst/>
            <a:rect l="l" t="t" r="r" b="b"/>
            <a:pathLst>
              <a:path w="3137881" h="770057">
                <a:moveTo>
                  <a:pt x="3137881" y="0"/>
                </a:moveTo>
                <a:lnTo>
                  <a:pt x="0" y="0"/>
                </a:lnTo>
                <a:lnTo>
                  <a:pt x="0" y="770058"/>
                </a:lnTo>
                <a:lnTo>
                  <a:pt x="3137881" y="770058"/>
                </a:lnTo>
                <a:lnTo>
                  <a:pt x="313788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7932" y="1135199"/>
            <a:ext cx="1669213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276655"/>
                </a:solidFill>
                <a:latin typeface="Baloo Chettan"/>
                <a:ea typeface="Baloo Chettan"/>
                <a:cs typeface="Baloo Chettan"/>
                <a:sym typeface="Baloo Chettan"/>
              </a:rPr>
              <a:t>SEMANTIC CHUNKING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242122" y="4356705"/>
            <a:ext cx="3891319" cy="1085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Split text 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into sentences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726923" y="4090005"/>
            <a:ext cx="4661653" cy="161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Embed each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sentence with 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MiniLM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08180" y="2677970"/>
            <a:ext cx="1761530" cy="635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  <a:spcBef>
                <a:spcPct val="0"/>
              </a:spcBef>
            </a:pPr>
            <a:r>
              <a:rPr lang="en-US" sz="3499" b="1">
                <a:solidFill>
                  <a:srgbClr val="276655"/>
                </a:solidFill>
                <a:latin typeface="Aharoni CLM Bold"/>
                <a:ea typeface="Aharoni CLM Bold"/>
                <a:cs typeface="Aharoni CLM Bold"/>
                <a:sym typeface="Aharoni CLM Bold"/>
              </a:rPr>
              <a:t>PROCESS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512624" y="4356705"/>
            <a:ext cx="3219649" cy="2152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Measure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cosine similarity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between adjacent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sentences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901912" y="4394805"/>
            <a:ext cx="2445048" cy="161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Cut when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similarity drops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below 0.5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 dirty="0">
                <a:solidFill>
                  <a:srgbClr val="276655"/>
                </a:solidFill>
                <a:latin typeface="Aharoni CLM"/>
              </a:rPr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17F1ED-D56E-EFA5-D567-2CF556986B27}"/>
              </a:ext>
            </a:extLst>
          </p:cNvPr>
          <p:cNvSpPr txBox="1"/>
          <p:nvPr/>
        </p:nvSpPr>
        <p:spPr>
          <a:xfrm>
            <a:off x="15621000" y="8496300"/>
            <a:ext cx="76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30737" y="3376988"/>
            <a:ext cx="3533023" cy="1766512"/>
            <a:chOff x="0" y="0"/>
            <a:chExt cx="812800" cy="406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7665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216550" y="258763"/>
            <a:ext cx="1669213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276655"/>
                </a:solidFill>
                <a:latin typeface="Baloo Chettan"/>
                <a:ea typeface="Baloo Chettan"/>
                <a:cs typeface="Baloo Chettan"/>
                <a:sym typeface="Baloo Chettan"/>
              </a:rPr>
              <a:t>ALTERNATIVE PIPELINE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4063760" y="3376988"/>
            <a:ext cx="3533023" cy="1766512"/>
            <a:chOff x="0" y="0"/>
            <a:chExt cx="812800" cy="4064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76655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504794" y="3376988"/>
            <a:ext cx="3533023" cy="1766512"/>
            <a:chOff x="0" y="0"/>
            <a:chExt cx="812800" cy="406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76655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945828" y="3376988"/>
            <a:ext cx="3533023" cy="1766512"/>
            <a:chOff x="0" y="0"/>
            <a:chExt cx="812800" cy="406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76655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536262" y="3376988"/>
            <a:ext cx="3533023" cy="1766512"/>
            <a:chOff x="0" y="0"/>
            <a:chExt cx="812800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76655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r>
                <a:rPr lang="en-US" sz="1899" b="1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[Cross-encoder rerank] 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374726" y="6409565"/>
            <a:ext cx="3550540" cy="1775270"/>
            <a:chOff x="0" y="0"/>
            <a:chExt cx="812800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76655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r>
                <a:rPr lang="en-US" sz="1899" b="1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 Top 5    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924746" y="6409565"/>
            <a:ext cx="3550540" cy="1775270"/>
            <a:chOff x="0" y="0"/>
            <a:chExt cx="812800" cy="406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76655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r>
                <a:rPr lang="en-US" sz="1899" b="1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GPT-4o-mini 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382841" y="6409565"/>
            <a:ext cx="3550540" cy="1775270"/>
            <a:chOff x="0" y="0"/>
            <a:chExt cx="812800" cy="4064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76655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r>
                <a:rPr lang="en-US" sz="1899" b="1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Answer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0840935" y="6409565"/>
            <a:ext cx="3550540" cy="1775270"/>
            <a:chOff x="0" y="0"/>
            <a:chExt cx="812800" cy="4064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76655"/>
            </a:solidFill>
          </p:spPr>
        </p:sp>
        <p:sp>
          <p:nvSpPr>
            <p:cNvPr id="29" name="TextBox 29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r>
                <a:rPr lang="en-US" sz="1899" b="1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[Low-confidence detector]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391476" y="6409565"/>
            <a:ext cx="3550540" cy="1775270"/>
            <a:chOff x="0" y="0"/>
            <a:chExt cx="812800" cy="4064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76655"/>
            </a:solidFill>
          </p:spPr>
        </p:sp>
        <p:sp>
          <p:nvSpPr>
            <p:cNvPr id="32" name="TextBox 3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r>
                <a:rPr lang="en-US" sz="1899" b="1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 Refuse if no good match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680866" y="3960439"/>
            <a:ext cx="3533023" cy="364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45"/>
              </a:lnSpc>
              <a:spcBef>
                <a:spcPct val="0"/>
              </a:spcBef>
            </a:pPr>
            <a:r>
              <a:rPr lang="en-US" sz="2175" b="1" u="none" strike="noStrik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Query 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420970" y="3960439"/>
            <a:ext cx="3533023" cy="364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45"/>
              </a:lnSpc>
              <a:spcBef>
                <a:spcPct val="0"/>
              </a:spcBef>
            </a:pPr>
            <a:r>
              <a:rPr lang="en-US" sz="2175" b="1" u="none" strike="noStrik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Embed 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775388" y="3769612"/>
            <a:ext cx="3533023" cy="746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45"/>
              </a:lnSpc>
              <a:spcBef>
                <a:spcPct val="0"/>
              </a:spcBef>
            </a:pPr>
            <a:r>
              <a:rPr lang="en-US" sz="2175" b="1" u="none" strike="noStrik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[Filter by </a:t>
            </a:r>
          </a:p>
          <a:p>
            <a:pPr marL="0" lvl="0" indent="0" algn="ctr">
              <a:lnSpc>
                <a:spcPts val="3045"/>
              </a:lnSpc>
              <a:spcBef>
                <a:spcPct val="0"/>
              </a:spcBef>
            </a:pPr>
            <a:r>
              <a:rPr lang="en-US" sz="2175" b="1" u="none" strike="noStrik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section]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003239" y="3769612"/>
            <a:ext cx="3533023" cy="746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45"/>
              </a:lnSpc>
              <a:spcBef>
                <a:spcPct val="0"/>
              </a:spcBef>
            </a:pPr>
            <a:r>
              <a:rPr lang="en-US" sz="2175" b="1" u="none" strike="noStrik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FAISS </a:t>
            </a:r>
          </a:p>
          <a:p>
            <a:pPr marL="0" lvl="0" indent="0" algn="ctr">
              <a:lnSpc>
                <a:spcPts val="3045"/>
              </a:lnSpc>
              <a:spcBef>
                <a:spcPct val="0"/>
              </a:spcBef>
            </a:pPr>
            <a:r>
              <a:rPr lang="en-US" sz="2175" b="1" u="none" strike="noStrik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(top 20)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>
                <a:solidFill>
                  <a:srgbClr val="276655"/>
                </a:solidFill>
                <a:latin typeface="Aharoni CLM"/>
              </a:rPr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8CA2E5-40CA-B629-CBB7-F52C43579976}"/>
              </a:ext>
            </a:extLst>
          </p:cNvPr>
          <p:cNvSpPr txBox="1"/>
          <p:nvPr/>
        </p:nvSpPr>
        <p:spPr>
          <a:xfrm>
            <a:off x="16991304" y="9246367"/>
            <a:ext cx="76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898073" y="643671"/>
            <a:ext cx="3137881" cy="770057"/>
          </a:xfrm>
          <a:custGeom>
            <a:avLst/>
            <a:gdLst/>
            <a:ahLst/>
            <a:cxnLst/>
            <a:rect l="l" t="t" r="r" b="b"/>
            <a:pathLst>
              <a:path w="3137881" h="770057">
                <a:moveTo>
                  <a:pt x="3137881" y="0"/>
                </a:moveTo>
                <a:lnTo>
                  <a:pt x="0" y="0"/>
                </a:lnTo>
                <a:lnTo>
                  <a:pt x="0" y="770058"/>
                </a:lnTo>
                <a:lnTo>
                  <a:pt x="3137881" y="770058"/>
                </a:lnTo>
                <a:lnTo>
                  <a:pt x="313788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98073" y="1637902"/>
            <a:ext cx="1669213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276655"/>
                </a:solidFill>
                <a:latin typeface="Baloo Chettan"/>
                <a:ea typeface="Baloo Chettan"/>
                <a:cs typeface="Baloo Chettan"/>
                <a:sym typeface="Baloo Chettan"/>
              </a:rPr>
              <a:t>ALTERNATIVE PIPELINE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330873" y="4522253"/>
            <a:ext cx="4827387" cy="2152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Routes queries to likely section 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Disabled for cross-section questions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318965" y="4518936"/>
            <a:ext cx="4661653" cy="161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Scores query+chunk jointly Score range: 0.44 to -4.69 vs FAISS 0.55 to 0.51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58260" y="3445786"/>
            <a:ext cx="4983063" cy="635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  <a:spcBef>
                <a:spcPct val="0"/>
              </a:spcBef>
            </a:pPr>
            <a:r>
              <a:rPr lang="en-US" sz="3499" b="1">
                <a:solidFill>
                  <a:srgbClr val="276655"/>
                </a:solidFill>
                <a:latin typeface="Aharoni CLM Bold"/>
                <a:ea typeface="Aharoni CLM Bold"/>
                <a:cs typeface="Aharoni CLM Bold"/>
                <a:sym typeface="Aharoni CLM Bold"/>
              </a:rPr>
              <a:t>Cross-encoder reranking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737349" y="4522253"/>
            <a:ext cx="4986384" cy="2152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Refuses when top scores cluster low Prevents hallucination on unanswerable queries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934359" y="3445786"/>
            <a:ext cx="3568204" cy="635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  <a:spcBef>
                <a:spcPct val="0"/>
              </a:spcBef>
            </a:pPr>
            <a:r>
              <a:rPr lang="en-US" sz="3499" b="1">
                <a:solidFill>
                  <a:srgbClr val="276655"/>
                </a:solidFill>
                <a:latin typeface="Aharoni CLM Bold"/>
                <a:ea typeface="Aharoni CLM Bold"/>
                <a:cs typeface="Aharoni CLM Bold"/>
                <a:sym typeface="Aharoni CLM Bold"/>
              </a:rPr>
              <a:t>Metadata filtering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333500" y="3445786"/>
            <a:ext cx="5256709" cy="635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  <a:spcBef>
                <a:spcPct val="0"/>
              </a:spcBef>
            </a:pPr>
            <a:r>
              <a:rPr lang="en-US" sz="3499" b="1">
                <a:solidFill>
                  <a:srgbClr val="276655"/>
                </a:solidFill>
                <a:latin typeface="Aharoni CLM Bold"/>
                <a:ea typeface="Aharoni CLM Bold"/>
                <a:cs typeface="Aharoni CLM Bold"/>
                <a:sym typeface="Aharoni CLM Bold"/>
              </a:rPr>
              <a:t> Low-confidence detector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>
                <a:solidFill>
                  <a:srgbClr val="276655"/>
                </a:solidFill>
                <a:latin typeface="Aharoni CLM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898073" y="643671"/>
            <a:ext cx="3137881" cy="770057"/>
          </a:xfrm>
          <a:custGeom>
            <a:avLst/>
            <a:gdLst/>
            <a:ahLst/>
            <a:cxnLst/>
            <a:rect l="l" t="t" r="r" b="b"/>
            <a:pathLst>
              <a:path w="3137881" h="770057">
                <a:moveTo>
                  <a:pt x="3137881" y="0"/>
                </a:moveTo>
                <a:lnTo>
                  <a:pt x="0" y="0"/>
                </a:lnTo>
                <a:lnTo>
                  <a:pt x="0" y="770058"/>
                </a:lnTo>
                <a:lnTo>
                  <a:pt x="3137881" y="770058"/>
                </a:lnTo>
                <a:lnTo>
                  <a:pt x="313788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198182" y="2758263"/>
            <a:ext cx="9571092" cy="5694800"/>
          </a:xfrm>
          <a:custGeom>
            <a:avLst/>
            <a:gdLst/>
            <a:ahLst/>
            <a:cxnLst/>
            <a:rect l="l" t="t" r="r" b="b"/>
            <a:pathLst>
              <a:path w="9571092" h="5694800">
                <a:moveTo>
                  <a:pt x="0" y="0"/>
                </a:moveTo>
                <a:lnTo>
                  <a:pt x="9571092" y="0"/>
                </a:lnTo>
                <a:lnTo>
                  <a:pt x="9571092" y="5694800"/>
                </a:lnTo>
                <a:lnTo>
                  <a:pt x="0" y="569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797932" y="258763"/>
            <a:ext cx="1669213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276655"/>
                </a:solidFill>
                <a:latin typeface="Baloo Chettan"/>
                <a:ea typeface="Baloo Chettan"/>
                <a:cs typeface="Baloo Chettan"/>
                <a:sym typeface="Baloo Chettan"/>
              </a:rPr>
              <a:t>RAGAS RESULTS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66896" y="1932582"/>
            <a:ext cx="3918843" cy="635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  <a:spcBef>
                <a:spcPct val="0"/>
              </a:spcBef>
            </a:pPr>
            <a:r>
              <a:rPr lang="en-US" sz="3499" b="1">
                <a:solidFill>
                  <a:srgbClr val="276655"/>
                </a:solidFill>
                <a:latin typeface="Aharoni CLM Bold"/>
                <a:ea typeface="Aharoni CLM Bold"/>
                <a:cs typeface="Aharoni CLM Bold"/>
                <a:sym typeface="Aharoni CLM Bold"/>
              </a:rPr>
              <a:t>Alternative pipeline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0" y="7600950"/>
            <a:ext cx="4418148" cy="2152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Context Precision: +43% Context Recall: +15% Tradeoff: 3× slower (1.5s -&gt; 4.6s per query)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>
                <a:solidFill>
                  <a:srgbClr val="276655"/>
                </a:solidFill>
                <a:latin typeface="Aharoni CLM"/>
              </a:rPr>
              <a:t>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6A6D16-5156-AD6B-B6D8-82F6BD3D98A4}"/>
              </a:ext>
            </a:extLst>
          </p:cNvPr>
          <p:cNvSpPr txBox="1"/>
          <p:nvPr/>
        </p:nvSpPr>
        <p:spPr>
          <a:xfrm>
            <a:off x="16306800" y="9079329"/>
            <a:ext cx="76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898073" y="643671"/>
            <a:ext cx="3137881" cy="770057"/>
          </a:xfrm>
          <a:custGeom>
            <a:avLst/>
            <a:gdLst/>
            <a:ahLst/>
            <a:cxnLst/>
            <a:rect l="l" t="t" r="r" b="b"/>
            <a:pathLst>
              <a:path w="3137881" h="770057">
                <a:moveTo>
                  <a:pt x="3137881" y="0"/>
                </a:moveTo>
                <a:lnTo>
                  <a:pt x="0" y="0"/>
                </a:lnTo>
                <a:lnTo>
                  <a:pt x="0" y="770058"/>
                </a:lnTo>
                <a:lnTo>
                  <a:pt x="3137881" y="770058"/>
                </a:lnTo>
                <a:lnTo>
                  <a:pt x="313788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98073" y="1637902"/>
            <a:ext cx="1669213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276655"/>
                </a:solidFill>
                <a:latin typeface="Baloo Chettan"/>
                <a:ea typeface="Baloo Chettan"/>
                <a:cs typeface="Baloo Chettan"/>
                <a:sym typeface="Baloo Chettan"/>
              </a:rPr>
              <a:t>RESULTS BY TIER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330873" y="4522253"/>
            <a:ext cx="4827387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Basic retrieval works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318965" y="4518936"/>
            <a:ext cx="4661653" cy="321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Cross-section questions dropped to 0.22 with over-filtering  -&gt; Fixed by disabling metadata filter for synthesis questions -&gt; 0.37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122543" y="3445786"/>
            <a:ext cx="1054497" cy="635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  <a:spcBef>
                <a:spcPct val="0"/>
              </a:spcBef>
            </a:pPr>
            <a:r>
              <a:rPr lang="en-US" sz="3499" b="1">
                <a:solidFill>
                  <a:srgbClr val="276655"/>
                </a:solidFill>
                <a:latin typeface="Aharoni CLM Bold"/>
                <a:ea typeface="Aharoni CLM Bold"/>
                <a:cs typeface="Aharoni CLM Bold"/>
                <a:sym typeface="Aharoni CLM Bold"/>
              </a:rPr>
              <a:t>Tier 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737349" y="4522253"/>
            <a:ext cx="4986384" cy="161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RAGAS penalizes correct refusals - custom metric needed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191213" y="3445786"/>
            <a:ext cx="1054497" cy="635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  <a:spcBef>
                <a:spcPct val="0"/>
              </a:spcBef>
            </a:pPr>
            <a:r>
              <a:rPr lang="en-US" sz="3499" b="1">
                <a:solidFill>
                  <a:srgbClr val="276655"/>
                </a:solidFill>
                <a:latin typeface="Aharoni CLM Bold"/>
                <a:ea typeface="Aharoni CLM Bold"/>
                <a:cs typeface="Aharoni CLM Bold"/>
                <a:sym typeface="Aharoni CLM Bold"/>
              </a:rPr>
              <a:t>Tier 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434606" y="3445786"/>
            <a:ext cx="1054497" cy="635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  <a:spcBef>
                <a:spcPct val="0"/>
              </a:spcBef>
            </a:pPr>
            <a:r>
              <a:rPr lang="en-US" sz="3499" b="1">
                <a:solidFill>
                  <a:srgbClr val="276655"/>
                </a:solidFill>
                <a:latin typeface="Aharoni CLM Bold"/>
                <a:ea typeface="Aharoni CLM Bold"/>
                <a:cs typeface="Aharoni CLM Bold"/>
                <a:sym typeface="Aharoni CLM Bold"/>
              </a:rPr>
              <a:t>Tier 3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>
                <a:solidFill>
                  <a:srgbClr val="276655"/>
                </a:solidFill>
                <a:latin typeface="Aharoni CLM"/>
              </a:rPr>
              <a:t>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8CD22-52D2-B67D-CEAD-3399661AEBDA}"/>
              </a:ext>
            </a:extLst>
          </p:cNvPr>
          <p:cNvSpPr txBox="1"/>
          <p:nvPr/>
        </p:nvSpPr>
        <p:spPr>
          <a:xfrm>
            <a:off x="16438000" y="9105900"/>
            <a:ext cx="76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97932" y="400000"/>
            <a:ext cx="16692136" cy="120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6000">
                <a:solidFill>
                  <a:srgbClr val="276655"/>
                </a:solidFill>
                <a:latin typeface="Baloo Chettan"/>
              </a:rPr>
              <a:t>BENCHMARK STATISTICS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074262"/>
              </p:ext>
            </p:extLst>
          </p:nvPr>
        </p:nvGraphicFramePr>
        <p:xfrm>
          <a:off x="700000" y="1700000"/>
          <a:ext cx="15500000" cy="44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r>
                        <a:rPr lang="en-US" sz="2000" b="1">
                          <a:solidFill>
                            <a:srgbClr val="FFFFFF"/>
                          </a:solidFill>
                          <a:latin typeface="Aharoni CLM"/>
                        </a:rPr>
                        <a:t>Dimension</a:t>
                      </a:r>
                    </a:p>
                  </a:txBody>
                  <a:tcPr>
                    <a:solidFill>
                      <a:srgbClr val="276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>
                          <a:solidFill>
                            <a:srgbClr val="FFFFFF"/>
                          </a:solidFill>
                          <a:latin typeface="Aharoni CLM"/>
                        </a:rPr>
                        <a:t>Tier 1</a:t>
                      </a:r>
                    </a:p>
                  </a:txBody>
                  <a:tcPr>
                    <a:solidFill>
                      <a:srgbClr val="276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>
                          <a:solidFill>
                            <a:srgbClr val="FFFFFF"/>
                          </a:solidFill>
                          <a:latin typeface="Aharoni CLM"/>
                        </a:rPr>
                        <a:t>Tier 2</a:t>
                      </a:r>
                    </a:p>
                  </a:txBody>
                  <a:tcPr>
                    <a:solidFill>
                      <a:srgbClr val="276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>
                          <a:solidFill>
                            <a:srgbClr val="FFFFFF"/>
                          </a:solidFill>
                          <a:latin typeface="Aharoni CLM"/>
                        </a:rPr>
                        <a:t>Tier 3</a:t>
                      </a:r>
                    </a:p>
                  </a:txBody>
                  <a:tcPr>
                    <a:solidFill>
                      <a:srgbClr val="276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>
                          <a:solidFill>
                            <a:srgbClr val="FFFFFF"/>
                          </a:solidFill>
                          <a:latin typeface="Aharoni CLM"/>
                        </a:rPr>
                        <a:t>Total</a:t>
                      </a:r>
                    </a:p>
                  </a:txBody>
                  <a:tcPr>
                    <a:solidFill>
                      <a:srgbClr val="276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>
                          <a:solidFill>
                            <a:srgbClr val="FFFFFF"/>
                          </a:solidFill>
                          <a:latin typeface="Aharoni CLM"/>
                        </a:rPr>
                        <a:t>Notes</a:t>
                      </a:r>
                    </a:p>
                  </a:txBody>
                  <a:tcPr>
                    <a:solidFill>
                      <a:srgbClr val="2766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276655"/>
                          </a:solidFill>
                          <a:latin typeface="Aharoni CLM"/>
                        </a:rPr>
                        <a:t>Questions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276655"/>
                          </a:solidFill>
                          <a:latin typeface="Aharoni CLM"/>
                        </a:rP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Equal split per tier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276655"/>
                          </a:solidFill>
                          <a:latin typeface="Aharoni CLM"/>
                        </a:rPr>
                        <a:t>Type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Single-section lookup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Cross-section reasoning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Adversarial / hallucination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3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Escalating difficulty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276655"/>
                          </a:solidFill>
                          <a:latin typeface="Aharoni CLM"/>
                        </a:rPr>
                        <a:t>Difficulty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Easy / 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Medium / Hard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Hard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Aharoni CLM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T3 all hard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276655"/>
                          </a:solidFill>
                          <a:latin typeface="Aharoni CLM"/>
                        </a:rPr>
                        <a:t>Correct answer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Factual answer from filing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Synthesized cross-section answer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Structured refusal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Aharoni CLM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T3 always refuses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276655"/>
                          </a:solidFill>
                          <a:latin typeface="Aharoni CLM"/>
                        </a:rPr>
                        <a:t>Failure tested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Retrieval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Cross-section synthesis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Hallucination / coverage gap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All 3 modes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Designed to isolate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276655"/>
                          </a:solidFill>
                          <a:latin typeface="Aharoni CLM"/>
                        </a:rPr>
                        <a:t>Avg faithfulness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0.60 (alt pipeline)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0.37 (alt pipeline)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0.08 (all pipelines)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333333"/>
                          </a:solidFill>
                          <a:latin typeface="Aharoni CLM"/>
                        </a:rPr>
                        <a:t>0.35 overall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Aharoni CLM"/>
                        </a:rPr>
                        <a:t>T3 low by 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>
                <a:solidFill>
                  <a:srgbClr val="276655"/>
                </a:solidFill>
                <a:latin typeface="Aharoni CLM"/>
              </a:rPr>
              <a:t>12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D629E1-C3D9-DB60-E3DF-668A80865B21}"/>
              </a:ext>
            </a:extLst>
          </p:cNvPr>
          <p:cNvSpPr txBox="1"/>
          <p:nvPr/>
        </p:nvSpPr>
        <p:spPr>
          <a:xfrm>
            <a:off x="15621000" y="8496300"/>
            <a:ext cx="76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898073" y="643671"/>
            <a:ext cx="3137881" cy="770057"/>
          </a:xfrm>
          <a:custGeom>
            <a:avLst/>
            <a:gdLst/>
            <a:ahLst/>
            <a:cxnLst/>
            <a:rect l="l" t="t" r="r" b="b"/>
            <a:pathLst>
              <a:path w="3137881" h="770057">
                <a:moveTo>
                  <a:pt x="3137881" y="0"/>
                </a:moveTo>
                <a:lnTo>
                  <a:pt x="0" y="0"/>
                </a:lnTo>
                <a:lnTo>
                  <a:pt x="0" y="770058"/>
                </a:lnTo>
                <a:lnTo>
                  <a:pt x="3137881" y="770058"/>
                </a:lnTo>
                <a:lnTo>
                  <a:pt x="313788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63867" y="2793162"/>
            <a:ext cx="9373507" cy="6198232"/>
          </a:xfrm>
          <a:custGeom>
            <a:avLst/>
            <a:gdLst/>
            <a:ahLst/>
            <a:cxnLst/>
            <a:rect l="l" t="t" r="r" b="b"/>
            <a:pathLst>
              <a:path w="9373507" h="6198232">
                <a:moveTo>
                  <a:pt x="0" y="0"/>
                </a:moveTo>
                <a:lnTo>
                  <a:pt x="9373508" y="0"/>
                </a:lnTo>
                <a:lnTo>
                  <a:pt x="9373508" y="6198232"/>
                </a:lnTo>
                <a:lnTo>
                  <a:pt x="0" y="61982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797932" y="1135199"/>
            <a:ext cx="1669213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276655"/>
                </a:solidFill>
                <a:latin typeface="Baloo Chettan"/>
                <a:ea typeface="Baloo Chettan"/>
                <a:cs typeface="Baloo Chettan"/>
                <a:sym typeface="Baloo Chettan"/>
              </a:rPr>
              <a:t>FAILURE ANALYSIS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037375" y="3536890"/>
            <a:ext cx="7799385" cy="1085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Wrong chunks returned despite answer existing : 45% -&gt; 28% with reranking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10721" y="5505450"/>
            <a:ext cx="7452693" cy="1085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Right chunks, wrong answer LLM adds knowledge beyond context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714754" y="7537919"/>
            <a:ext cx="6775313" cy="1085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Answer not in any filing Target of low-confidence detector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216762" y="3079690"/>
            <a:ext cx="2660452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276655"/>
                </a:solidFill>
                <a:latin typeface="Aharoni CLM Bold"/>
                <a:ea typeface="Aharoni CLM Bold"/>
                <a:cs typeface="Aharoni CLM Bold"/>
                <a:sym typeface="Aharoni CLM Bold"/>
              </a:rPr>
              <a:t>Retrieval failure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201730" y="5048250"/>
            <a:ext cx="3114774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276655"/>
                </a:solidFill>
                <a:latin typeface="Aharoni CLM Bold"/>
                <a:ea typeface="Aharoni CLM Bold"/>
                <a:cs typeface="Aharoni CLM Bold"/>
                <a:sym typeface="Aharoni CLM Bold"/>
              </a:rPr>
              <a:t>Generation failure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477856" y="7019925"/>
            <a:ext cx="2562523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276655"/>
                </a:solidFill>
                <a:latin typeface="Aharoni CLM Bold"/>
                <a:ea typeface="Aharoni CLM Bold"/>
                <a:cs typeface="Aharoni CLM Bold"/>
                <a:sym typeface="Aharoni CLM Bold"/>
              </a:rPr>
              <a:t>Coverage gap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>
                <a:solidFill>
                  <a:srgbClr val="276655"/>
                </a:solidFill>
                <a:latin typeface="Aharoni CLM"/>
              </a:rPr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55B5A3-8099-1F45-C3B0-199BA71C1194}"/>
              </a:ext>
            </a:extLst>
          </p:cNvPr>
          <p:cNvSpPr txBox="1"/>
          <p:nvPr/>
        </p:nvSpPr>
        <p:spPr>
          <a:xfrm>
            <a:off x="16230600" y="9088522"/>
            <a:ext cx="76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97932" y="2122547"/>
            <a:ext cx="10246180" cy="7684635"/>
          </a:xfrm>
          <a:custGeom>
            <a:avLst/>
            <a:gdLst/>
            <a:ahLst/>
            <a:cxnLst/>
            <a:rect l="l" t="t" r="r" b="b"/>
            <a:pathLst>
              <a:path w="10246180" h="7684635">
                <a:moveTo>
                  <a:pt x="0" y="0"/>
                </a:moveTo>
                <a:lnTo>
                  <a:pt x="10246180" y="0"/>
                </a:lnTo>
                <a:lnTo>
                  <a:pt x="10246180" y="7684634"/>
                </a:lnTo>
                <a:lnTo>
                  <a:pt x="0" y="76846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7932" y="424480"/>
            <a:ext cx="1669213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276655"/>
                </a:solidFill>
                <a:latin typeface="Baloo Chettan"/>
                <a:ea typeface="Baloo Chettan"/>
                <a:cs typeface="Baloo Chettan"/>
                <a:sym typeface="Baloo Chettan"/>
              </a:rPr>
              <a:t>TRADEOFFS: PRECISON VS LATENCY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1408138" y="5371107"/>
            <a:ext cx="7799385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276655"/>
                </a:solidFill>
                <a:latin typeface="Aharoni CLM Bold"/>
                <a:ea typeface="Aharoni CLM Bold"/>
                <a:cs typeface="Aharoni CLM Bold"/>
                <a:sym typeface="Aharoni CLM Bold"/>
              </a:rPr>
              <a:t>Fixed baseline:</a:t>
            </a: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fast but imprecise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08138" y="6119885"/>
            <a:ext cx="7452693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276655"/>
                </a:solidFill>
                <a:latin typeface="Aharoni CLM Bold"/>
                <a:ea typeface="Aharoni CLM Bold"/>
                <a:cs typeface="Aharoni CLM Bold"/>
                <a:sym typeface="Aharoni CLM Bold"/>
              </a:rPr>
              <a:t>Semantic baseline:</a:t>
            </a: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marginal gain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08138" y="6946930"/>
            <a:ext cx="6775313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276655"/>
                </a:solidFill>
                <a:latin typeface="Aharoni CLM Bold"/>
                <a:ea typeface="Aharoni CLM Bold"/>
                <a:cs typeface="Aharoni CLM Bold"/>
                <a:sym typeface="Aharoni CLM Bold"/>
              </a:rPr>
              <a:t>Alternative:</a:t>
            </a:r>
            <a:r>
              <a:rPr lang="en-US" sz="300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best precision, highest cost 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>
                <a:solidFill>
                  <a:srgbClr val="276655"/>
                </a:solidFill>
                <a:latin typeface="Aharoni CLM"/>
              </a:rPr>
              <a:t>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C4B31C-67C5-3E75-9BDD-E0818602D0D2}"/>
              </a:ext>
            </a:extLst>
          </p:cNvPr>
          <p:cNvSpPr txBox="1"/>
          <p:nvPr/>
        </p:nvSpPr>
        <p:spPr>
          <a:xfrm>
            <a:off x="15621000" y="8496300"/>
            <a:ext cx="76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898073" y="643671"/>
            <a:ext cx="3137881" cy="770057"/>
          </a:xfrm>
          <a:custGeom>
            <a:avLst/>
            <a:gdLst/>
            <a:ahLst/>
            <a:cxnLst/>
            <a:rect l="l" t="t" r="r" b="b"/>
            <a:pathLst>
              <a:path w="3137881" h="770057">
                <a:moveTo>
                  <a:pt x="3137881" y="0"/>
                </a:moveTo>
                <a:lnTo>
                  <a:pt x="0" y="0"/>
                </a:lnTo>
                <a:lnTo>
                  <a:pt x="0" y="770058"/>
                </a:lnTo>
                <a:lnTo>
                  <a:pt x="3137881" y="770058"/>
                </a:lnTo>
                <a:lnTo>
                  <a:pt x="313788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7932" y="1135199"/>
            <a:ext cx="1669213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276655"/>
                </a:solidFill>
                <a:latin typeface="Baloo Chettan"/>
                <a:ea typeface="Baloo Chettan"/>
                <a:cs typeface="Baloo Chettan"/>
                <a:sym typeface="Baloo Chettan"/>
              </a:rPr>
              <a:t>KEY FINDINGS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7932" y="3143295"/>
            <a:ext cx="17351391" cy="5327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28363" lvl="1" indent="-464181" algn="l">
              <a:lnSpc>
                <a:spcPts val="8513"/>
              </a:lnSpc>
              <a:buFont typeface="Arial"/>
              <a:buChar char="•"/>
            </a:pPr>
            <a:r>
              <a:rPr lang="en-US" sz="4299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Semantic chunking: 24% fewer chunks, same or better scores</a:t>
            </a:r>
          </a:p>
          <a:p>
            <a:pPr marL="928363" lvl="1" indent="-464181" algn="l">
              <a:lnSpc>
                <a:spcPts val="8513"/>
              </a:lnSpc>
              <a:buFont typeface="Arial"/>
              <a:buChar char="•"/>
            </a:pPr>
            <a:r>
              <a:rPr lang="en-US" sz="4299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Cross-encoder reranking: +43% context precision</a:t>
            </a:r>
          </a:p>
          <a:p>
            <a:pPr marL="928363" lvl="1" indent="-464181" algn="l">
              <a:lnSpc>
                <a:spcPts val="8513"/>
              </a:lnSpc>
              <a:buFont typeface="Arial"/>
              <a:buChar char="•"/>
            </a:pPr>
            <a:r>
              <a:rPr lang="en-US" sz="4299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Metadata filtering: helps Tier 1, hurts Tier 2 without cross-section detection </a:t>
            </a:r>
          </a:p>
          <a:p>
            <a:pPr marL="928363" lvl="1" indent="-464181" algn="l">
              <a:lnSpc>
                <a:spcPts val="8513"/>
              </a:lnSpc>
              <a:buFont typeface="Arial"/>
              <a:buChar char="•"/>
            </a:pPr>
            <a:r>
              <a:rPr lang="en-US" sz="4299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Coverage gap is the dominant failure mode in adversarial queries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>
                <a:solidFill>
                  <a:srgbClr val="276655"/>
                </a:solidFill>
                <a:latin typeface="Aharoni CLM"/>
              </a:rPr>
              <a:t>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60EB27-400E-D398-B9C1-67B9059AFFF9}"/>
              </a:ext>
            </a:extLst>
          </p:cNvPr>
          <p:cNvSpPr txBox="1"/>
          <p:nvPr/>
        </p:nvSpPr>
        <p:spPr>
          <a:xfrm>
            <a:off x="15697200" y="9100587"/>
            <a:ext cx="76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898073" y="643671"/>
            <a:ext cx="3137881" cy="770057"/>
          </a:xfrm>
          <a:custGeom>
            <a:avLst/>
            <a:gdLst/>
            <a:ahLst/>
            <a:cxnLst/>
            <a:rect l="l" t="t" r="r" b="b"/>
            <a:pathLst>
              <a:path w="3137881" h="770057">
                <a:moveTo>
                  <a:pt x="3137881" y="0"/>
                </a:moveTo>
                <a:lnTo>
                  <a:pt x="0" y="0"/>
                </a:lnTo>
                <a:lnTo>
                  <a:pt x="0" y="770058"/>
                </a:lnTo>
                <a:lnTo>
                  <a:pt x="3137881" y="770058"/>
                </a:lnTo>
                <a:lnTo>
                  <a:pt x="313788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7932" y="1135199"/>
            <a:ext cx="1669213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276655"/>
                </a:solidFill>
                <a:latin typeface="Baloo Chettan"/>
                <a:ea typeface="Baloo Chettan"/>
                <a:cs typeface="Baloo Chettan"/>
                <a:sym typeface="Baloo Chettan"/>
              </a:rPr>
              <a:t>NEXT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7932" y="3143295"/>
            <a:ext cx="17351391" cy="3154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28363" lvl="1" indent="-464181" algn="l">
              <a:lnSpc>
                <a:spcPts val="8513"/>
              </a:lnSpc>
              <a:buFont typeface="Arial"/>
              <a:buChar char="•"/>
            </a:pPr>
            <a:r>
              <a:rPr lang="en-US" sz="4299" dirty="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Full corpus embedding on </a:t>
            </a:r>
            <a:r>
              <a:rPr lang="en-US" sz="4299" dirty="0" err="1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Beocat</a:t>
            </a:r>
            <a:r>
              <a:rPr lang="en-US" sz="4299" dirty="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: 6,500+ filings, GPU acceleration</a:t>
            </a:r>
          </a:p>
          <a:p>
            <a:pPr marL="928363" lvl="1" indent="-464181" algn="l">
              <a:lnSpc>
                <a:spcPts val="8513"/>
              </a:lnSpc>
              <a:buFont typeface="Arial"/>
              <a:buChar char="•"/>
            </a:pPr>
            <a:r>
              <a:rPr lang="en-US" sz="4299" dirty="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Low-confidence detector calibration : domain-specific thresholds</a:t>
            </a:r>
          </a:p>
          <a:p>
            <a:pPr marL="928363" lvl="1" indent="-464181" algn="l">
              <a:lnSpc>
                <a:spcPts val="8513"/>
              </a:lnSpc>
              <a:buFont typeface="Arial"/>
              <a:buChar char="•"/>
            </a:pPr>
            <a:r>
              <a:rPr lang="en-US" sz="4299" dirty="0">
                <a:solidFill>
                  <a:srgbClr val="276655"/>
                </a:solidFill>
                <a:latin typeface="Aharoni CLM"/>
                <a:ea typeface="Aharoni CLM"/>
                <a:cs typeface="Aharoni CLM"/>
                <a:sym typeface="Aharoni CLM"/>
              </a:rPr>
              <a:t> Custom adversarial metric : RAGAS penalizes correct refusals</a:t>
            </a:r>
          </a:p>
        </p:txBody>
      </p:sp>
      <p:sp>
        <p:nvSpPr>
          <p:cNvPr id="99" name="SlideNum"/>
          <p:cNvSpPr txBox="1"/>
          <p:nvPr/>
        </p:nvSpPr>
        <p:spPr>
          <a:xfrm>
            <a:off x="17200000" y="6300000"/>
            <a:ext cx="1000000" cy="45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r"/>
            <a:r>
              <a:rPr lang="en-US" sz="1600">
                <a:solidFill>
                  <a:srgbClr val="276655"/>
                </a:solidFill>
                <a:latin typeface="Aharoni CLM"/>
              </a:rPr>
              <a:t>15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1A0B5F-7617-5B91-715C-0471E1EE9F9D}"/>
              </a:ext>
            </a:extLst>
          </p:cNvPr>
          <p:cNvSpPr txBox="1"/>
          <p:nvPr/>
        </p:nvSpPr>
        <p:spPr>
          <a:xfrm>
            <a:off x="15621000" y="8496300"/>
            <a:ext cx="76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837</Words>
  <Application>Microsoft Office PowerPoint</Application>
  <PresentationFormat>Custom</PresentationFormat>
  <Paragraphs>194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Canva Sans</vt:lpstr>
      <vt:lpstr>Arial</vt:lpstr>
      <vt:lpstr>Aharoni CLM Bold</vt:lpstr>
      <vt:lpstr>Calibri</vt:lpstr>
      <vt:lpstr>Canva Sans Bold</vt:lpstr>
      <vt:lpstr>Baloo Chettan</vt:lpstr>
      <vt:lpstr>Aharoni CLM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Chipo Sekabanja</dc:title>
  <cp:lastModifiedBy>Chipo Sekabanja</cp:lastModifiedBy>
  <cp:revision>2</cp:revision>
  <dcterms:created xsi:type="dcterms:W3CDTF">2006-08-16T00:00:00Z</dcterms:created>
  <dcterms:modified xsi:type="dcterms:W3CDTF">2026-05-16T03:31:42Z</dcterms:modified>
  <dc:identifier>DAHJXIRlqXY</dc:identifier>
</cp:coreProperties>
</file>