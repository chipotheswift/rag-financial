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72" r:id="rId7"/>
    <p:sldId id="260" r:id="rId8"/>
    <p:sldId id="261" r:id="rId9"/>
    <p:sldId id="262" r:id="rId10"/>
    <p:sldId id="263" r:id="rId11"/>
    <p:sldId id="264" r:id="rId12"/>
    <p:sldId id="273" r:id="rId13"/>
    <p:sldId id="265" r:id="rId14"/>
    <p:sldId id="266" r:id="rId15"/>
    <p:sldId id="267" r:id="rId16"/>
    <p:sldId id="268" r:id="rId17"/>
    <p:sldId id="269" r:id="rId18"/>
    <p:sldId id="270" r:id="rId19"/>
  </p:sldIdLst>
  <p:sldSz cx="18288000" cy="10287000"/>
  <p:notesSz cx="6858000" cy="9144000"/>
  <p:embeddedFontLst>
    <p:embeddedFont>
      <p:font typeface="Aharoni CLM" panose="020B0604020202020204" charset="-79"/>
      <p:regular r:id="rId20"/>
    </p:embeddedFont>
    <p:embeddedFont>
      <p:font typeface="Aharoni CLM Bold" panose="020B0604020202020204" charset="-79"/>
      <p:regular r:id="rId21"/>
    </p:embeddedFont>
    <p:embeddedFont>
      <p:font typeface="Baloo Chettan" panose="020B0604020202020204" charset="0"/>
      <p:regular r:id="rId22"/>
    </p:embeddedFont>
    <p:embeddedFont>
      <p:font typeface="Canva Sans" panose="020B0604020202020204" charset="0"/>
      <p:regular r:id="rId23"/>
    </p:embeddedFont>
    <p:embeddedFont>
      <p:font typeface="Canva San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6" autoAdjust="0"/>
    <p:restoredTop sz="94622" autoAdjust="0"/>
  </p:normalViewPr>
  <p:slideViewPr>
    <p:cSldViewPr>
      <p:cViewPr varScale="1">
        <p:scale>
          <a:sx n="63" d="100"/>
          <a:sy n="63" d="100"/>
        </p:scale>
        <p:origin x="116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8073" y="643671"/>
            <a:ext cx="3137881" cy="770057"/>
          </a:xfrm>
          <a:custGeom>
            <a:avLst/>
            <a:gdLst/>
            <a:ahLst/>
            <a:cxnLst/>
            <a:rect l="l" t="t" r="r" b="b"/>
            <a:pathLst>
              <a:path w="3137881" h="770057">
                <a:moveTo>
                  <a:pt x="3137881" y="0"/>
                </a:moveTo>
                <a:lnTo>
                  <a:pt x="0" y="0"/>
                </a:lnTo>
                <a:lnTo>
                  <a:pt x="0" y="770058"/>
                </a:lnTo>
                <a:lnTo>
                  <a:pt x="3137881" y="770058"/>
                </a:lnTo>
                <a:lnTo>
                  <a:pt x="3137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32199" y="6854448"/>
            <a:ext cx="9741186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Chipo Sekabanja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7164" y="1917919"/>
            <a:ext cx="16692136" cy="413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11886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EVALUATING CHUNKING STRATEGIES FOR RAG </a:t>
            </a:r>
          </a:p>
        </p:txBody>
      </p:sp>
      <p:sp>
        <p:nvSpPr>
          <p:cNvPr id="5" name="Freeform 5"/>
          <p:cNvSpPr/>
          <p:nvPr/>
        </p:nvSpPr>
        <p:spPr>
          <a:xfrm>
            <a:off x="-1665421" y="7421429"/>
            <a:ext cx="3673741" cy="3673741"/>
          </a:xfrm>
          <a:custGeom>
            <a:avLst/>
            <a:gdLst/>
            <a:ahLst/>
            <a:cxnLst/>
            <a:rect l="l" t="t" r="r" b="b"/>
            <a:pathLst>
              <a:path w="3673741" h="3673741">
                <a:moveTo>
                  <a:pt x="0" y="0"/>
                </a:moveTo>
                <a:lnTo>
                  <a:pt x="3673742" y="0"/>
                </a:lnTo>
                <a:lnTo>
                  <a:pt x="3673742" y="3673742"/>
                </a:lnTo>
                <a:lnTo>
                  <a:pt x="0" y="3673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420121">
            <a:off x="-2540784" y="8218689"/>
            <a:ext cx="7627869" cy="7712000"/>
          </a:xfrm>
          <a:custGeom>
            <a:avLst/>
            <a:gdLst/>
            <a:ahLst/>
            <a:cxnLst/>
            <a:rect l="l" t="t" r="r" b="b"/>
            <a:pathLst>
              <a:path w="7627869" h="7712000">
                <a:moveTo>
                  <a:pt x="0" y="0"/>
                </a:moveTo>
                <a:lnTo>
                  <a:pt x="7627869" y="0"/>
                </a:lnTo>
                <a:lnTo>
                  <a:pt x="7627869" y="7712000"/>
                </a:lnTo>
                <a:lnTo>
                  <a:pt x="0" y="7712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354451" y="2387025"/>
            <a:ext cx="5860513" cy="4999236"/>
          </a:xfrm>
          <a:custGeom>
            <a:avLst/>
            <a:gdLst/>
            <a:ahLst/>
            <a:cxnLst/>
            <a:rect l="l" t="t" r="r" b="b"/>
            <a:pathLst>
              <a:path w="5860513" h="4999236">
                <a:moveTo>
                  <a:pt x="0" y="0"/>
                </a:moveTo>
                <a:lnTo>
                  <a:pt x="5860513" y="0"/>
                </a:lnTo>
                <a:lnTo>
                  <a:pt x="5860513" y="4999235"/>
                </a:lnTo>
                <a:lnTo>
                  <a:pt x="0" y="49992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76933" y="-3472657"/>
            <a:ext cx="5264450" cy="4762458"/>
          </a:xfrm>
          <a:custGeom>
            <a:avLst/>
            <a:gdLst/>
            <a:ahLst/>
            <a:cxnLst/>
            <a:rect l="l" t="t" r="r" b="b"/>
            <a:pathLst>
              <a:path w="5264450" h="4762458">
                <a:moveTo>
                  <a:pt x="0" y="0"/>
                </a:moveTo>
                <a:lnTo>
                  <a:pt x="5264449" y="0"/>
                </a:lnTo>
                <a:lnTo>
                  <a:pt x="5264449" y="4762457"/>
                </a:lnTo>
                <a:lnTo>
                  <a:pt x="0" y="47624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9058577">
            <a:off x="15460292" y="7254551"/>
            <a:ext cx="5655415" cy="5776361"/>
          </a:xfrm>
          <a:custGeom>
            <a:avLst/>
            <a:gdLst/>
            <a:ahLst/>
            <a:cxnLst/>
            <a:rect l="l" t="t" r="r" b="b"/>
            <a:pathLst>
              <a:path w="5655415" h="5776361">
                <a:moveTo>
                  <a:pt x="0" y="0"/>
                </a:moveTo>
                <a:lnTo>
                  <a:pt x="5655416" y="0"/>
                </a:lnTo>
                <a:lnTo>
                  <a:pt x="5655416" y="5776361"/>
                </a:lnTo>
                <a:lnTo>
                  <a:pt x="0" y="57763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886910">
            <a:off x="12428540" y="9630662"/>
            <a:ext cx="1911047" cy="1881079"/>
          </a:xfrm>
          <a:custGeom>
            <a:avLst/>
            <a:gdLst/>
            <a:ahLst/>
            <a:cxnLst/>
            <a:rect l="l" t="t" r="r" b="b"/>
            <a:pathLst>
              <a:path w="1911047" h="1881079">
                <a:moveTo>
                  <a:pt x="0" y="0"/>
                </a:moveTo>
                <a:lnTo>
                  <a:pt x="1911047" y="0"/>
                </a:lnTo>
                <a:lnTo>
                  <a:pt x="1911047" y="1881079"/>
                </a:lnTo>
                <a:lnTo>
                  <a:pt x="0" y="1881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232199" y="7698998"/>
            <a:ext cx="974118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76655"/>
                </a:solidFill>
                <a:latin typeface="Canva Sans"/>
                <a:ea typeface="Canva Sans"/>
                <a:cs typeface="Canva Sans"/>
                <a:sym typeface="Canva Sans"/>
              </a:rPr>
              <a:t>CIS 530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24264" y="54900"/>
            <a:ext cx="16692136" cy="1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6000" dirty="0">
                <a:solidFill>
                  <a:srgbClr val="276655"/>
                </a:solidFill>
                <a:latin typeface="Baloo Chettan"/>
              </a:rPr>
              <a:t>TABLE OF CONTENTS</a:t>
            </a:r>
          </a:p>
        </p:txBody>
      </p:sp>
      <p:sp>
        <p:nvSpPr>
          <p:cNvPr id="3" name="TOCLeft"/>
          <p:cNvSpPr txBox="1"/>
          <p:nvPr/>
        </p:nvSpPr>
        <p:spPr>
          <a:xfrm>
            <a:off x="861440" y="952500"/>
            <a:ext cx="8500000" cy="9054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2 : Why Chunking Matters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3 : Three Pipelines Overview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4 : Dataset (EDGAR-CORPUS)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5 : Background &amp; Related Work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6 : Semantic Chunking Results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7 : Semantic Chunking Process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8 : Alternative Pipeline (Diagram)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9 : Alternative Pipeline (Detail)</a:t>
            </a:r>
          </a:p>
        </p:txBody>
      </p:sp>
      <p:sp>
        <p:nvSpPr>
          <p:cNvPr id="4" name="TOCRight"/>
          <p:cNvSpPr txBox="1"/>
          <p:nvPr/>
        </p:nvSpPr>
        <p:spPr>
          <a:xfrm>
            <a:off x="9361440" y="952500"/>
            <a:ext cx="8800000" cy="9054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10 : RAGAS Results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11 : Results by Tier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12 : Benchmark Statistics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13 : Failure Analysis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14 : Precision vs Latency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15 : Challenges Encountered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16 : Key Findings</a:t>
            </a:r>
          </a:p>
          <a:p>
            <a:pPr algn="l">
              <a:lnSpc>
                <a:spcPts val="9000"/>
              </a:lnSpc>
              <a:buFont typeface="Arial"/>
              <a:buChar char="•"/>
            </a:pPr>
            <a:r>
              <a:rPr lang="en-US" sz="3000" dirty="0">
                <a:solidFill>
                  <a:srgbClr val="276655"/>
                </a:solidFill>
                <a:latin typeface="Aharoni CLM"/>
              </a:rPr>
              <a:t> Slide 17 : Next Steps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6916400" y="91821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3600" dirty="0">
                <a:solidFill>
                  <a:srgbClr val="276655"/>
                </a:solidFill>
                <a:latin typeface="Aharoni CLM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8073" y="643671"/>
            <a:ext cx="3137881" cy="770057"/>
          </a:xfrm>
          <a:custGeom>
            <a:avLst/>
            <a:gdLst/>
            <a:ahLst/>
            <a:cxnLst/>
            <a:rect l="l" t="t" r="r" b="b"/>
            <a:pathLst>
              <a:path w="3137881" h="770057">
                <a:moveTo>
                  <a:pt x="3137881" y="0"/>
                </a:moveTo>
                <a:lnTo>
                  <a:pt x="0" y="0"/>
                </a:lnTo>
                <a:lnTo>
                  <a:pt x="0" y="770058"/>
                </a:lnTo>
                <a:lnTo>
                  <a:pt x="3137881" y="770058"/>
                </a:lnTo>
                <a:lnTo>
                  <a:pt x="3137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7164" y="1984594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WHY CHUNKING MATTERS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60855" y="4335172"/>
            <a:ext cx="4189241" cy="454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3000">
                <a:solidFill>
                  <a:srgbClr val="276655"/>
                </a:solidFill>
                <a:latin typeface="Canva Sans"/>
                <a:ea typeface="Canva Sans"/>
                <a:cs typeface="Canva Sans"/>
                <a:sym typeface="Canva Sans"/>
              </a:rPr>
              <a:t>LLMs hallucinate when they don't know something. RAG fixes this by retrieving relevant passages first.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42350" y="3963591"/>
            <a:ext cx="5018553" cy="454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3000">
                <a:solidFill>
                  <a:srgbClr val="276655"/>
                </a:solidFill>
                <a:latin typeface="Canva Sans"/>
                <a:ea typeface="Canva Sans"/>
                <a:cs typeface="Canva Sans"/>
                <a:sym typeface="Canva Sans"/>
              </a:rPr>
              <a:t>Fixed-size chunking ignores document structure. SEC 10K filings have 20 legally defined sections. Splitting mid-sentence destroys retrieval quality.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6759300" y="91821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3600" dirty="0">
                <a:solidFill>
                  <a:srgbClr val="276655"/>
                </a:solidFill>
                <a:latin typeface="Aharoni CLM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8073" y="643671"/>
            <a:ext cx="3137881" cy="770057"/>
          </a:xfrm>
          <a:custGeom>
            <a:avLst/>
            <a:gdLst/>
            <a:ahLst/>
            <a:cxnLst/>
            <a:rect l="l" t="t" r="r" b="b"/>
            <a:pathLst>
              <a:path w="3137881" h="770057">
                <a:moveTo>
                  <a:pt x="3137881" y="0"/>
                </a:moveTo>
                <a:lnTo>
                  <a:pt x="0" y="0"/>
                </a:lnTo>
                <a:lnTo>
                  <a:pt x="0" y="770058"/>
                </a:lnTo>
                <a:lnTo>
                  <a:pt x="3137881" y="770058"/>
                </a:lnTo>
                <a:lnTo>
                  <a:pt x="3137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7164" y="1984594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PIPELINES</a:t>
            </a:r>
          </a:p>
        </p:txBody>
      </p:sp>
      <p:sp>
        <p:nvSpPr>
          <p:cNvPr id="4" name="Freeform 4"/>
          <p:cNvSpPr/>
          <p:nvPr/>
        </p:nvSpPr>
        <p:spPr>
          <a:xfrm>
            <a:off x="-1630752" y="7542771"/>
            <a:ext cx="3673741" cy="3673741"/>
          </a:xfrm>
          <a:custGeom>
            <a:avLst/>
            <a:gdLst/>
            <a:ahLst/>
            <a:cxnLst/>
            <a:rect l="l" t="t" r="r" b="b"/>
            <a:pathLst>
              <a:path w="3673741" h="3673741">
                <a:moveTo>
                  <a:pt x="0" y="0"/>
                </a:moveTo>
                <a:lnTo>
                  <a:pt x="3673742" y="0"/>
                </a:lnTo>
                <a:lnTo>
                  <a:pt x="3673742" y="3673742"/>
                </a:lnTo>
                <a:lnTo>
                  <a:pt x="0" y="3673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420121">
            <a:off x="-2558119" y="8790731"/>
            <a:ext cx="7627869" cy="7712000"/>
          </a:xfrm>
          <a:custGeom>
            <a:avLst/>
            <a:gdLst/>
            <a:ahLst/>
            <a:cxnLst/>
            <a:rect l="l" t="t" r="r" b="b"/>
            <a:pathLst>
              <a:path w="7627869" h="7712000">
                <a:moveTo>
                  <a:pt x="0" y="0"/>
                </a:moveTo>
                <a:lnTo>
                  <a:pt x="7627869" y="0"/>
                </a:lnTo>
                <a:lnTo>
                  <a:pt x="7627869" y="7712000"/>
                </a:lnTo>
                <a:lnTo>
                  <a:pt x="0" y="7712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354451" y="2387025"/>
            <a:ext cx="5860513" cy="4999236"/>
          </a:xfrm>
          <a:custGeom>
            <a:avLst/>
            <a:gdLst/>
            <a:ahLst/>
            <a:cxnLst/>
            <a:rect l="l" t="t" r="r" b="b"/>
            <a:pathLst>
              <a:path w="5860513" h="4999236">
                <a:moveTo>
                  <a:pt x="0" y="0"/>
                </a:moveTo>
                <a:lnTo>
                  <a:pt x="5860513" y="0"/>
                </a:lnTo>
                <a:lnTo>
                  <a:pt x="5860513" y="4999235"/>
                </a:lnTo>
                <a:lnTo>
                  <a:pt x="0" y="49992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76933" y="-3472657"/>
            <a:ext cx="5264450" cy="4762458"/>
          </a:xfrm>
          <a:custGeom>
            <a:avLst/>
            <a:gdLst/>
            <a:ahLst/>
            <a:cxnLst/>
            <a:rect l="l" t="t" r="r" b="b"/>
            <a:pathLst>
              <a:path w="5264450" h="4762458">
                <a:moveTo>
                  <a:pt x="0" y="0"/>
                </a:moveTo>
                <a:lnTo>
                  <a:pt x="5264449" y="0"/>
                </a:lnTo>
                <a:lnTo>
                  <a:pt x="5264449" y="4762457"/>
                </a:lnTo>
                <a:lnTo>
                  <a:pt x="0" y="47624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9058577">
            <a:off x="15460292" y="7254551"/>
            <a:ext cx="5655415" cy="5776361"/>
          </a:xfrm>
          <a:custGeom>
            <a:avLst/>
            <a:gdLst/>
            <a:ahLst/>
            <a:cxnLst/>
            <a:rect l="l" t="t" r="r" b="b"/>
            <a:pathLst>
              <a:path w="5655415" h="5776361">
                <a:moveTo>
                  <a:pt x="0" y="0"/>
                </a:moveTo>
                <a:lnTo>
                  <a:pt x="5655416" y="0"/>
                </a:lnTo>
                <a:lnTo>
                  <a:pt x="5655416" y="5776361"/>
                </a:lnTo>
                <a:lnTo>
                  <a:pt x="0" y="57763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886910">
            <a:off x="12428540" y="9630662"/>
            <a:ext cx="1911047" cy="1881079"/>
          </a:xfrm>
          <a:custGeom>
            <a:avLst/>
            <a:gdLst/>
            <a:ahLst/>
            <a:cxnLst/>
            <a:rect l="l" t="t" r="r" b="b"/>
            <a:pathLst>
              <a:path w="1911047" h="1881079">
                <a:moveTo>
                  <a:pt x="0" y="0"/>
                </a:moveTo>
                <a:lnTo>
                  <a:pt x="1911047" y="0"/>
                </a:lnTo>
                <a:lnTo>
                  <a:pt x="1911047" y="1881079"/>
                </a:lnTo>
                <a:lnTo>
                  <a:pt x="0" y="1881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606148" y="4478047"/>
            <a:ext cx="3561961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Fixed-size baseline,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512 tokens, 50 overlap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4,877 chunks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54721" y="4443428"/>
            <a:ext cx="4418969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Alternative pipeline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Reranking + filtering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Cross-encoder + detector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95306" y="4443428"/>
            <a:ext cx="3604243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Semantic baseline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MiniLM topic splits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3,700 chunks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03E11D-CDE8-6FFD-4117-7E3FD6D67A22}"/>
              </a:ext>
            </a:extLst>
          </p:cNvPr>
          <p:cNvSpPr txBox="1"/>
          <p:nvPr/>
        </p:nvSpPr>
        <p:spPr>
          <a:xfrm>
            <a:off x="15621000" y="8496300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8073" y="643671"/>
            <a:ext cx="3137881" cy="770057"/>
          </a:xfrm>
          <a:custGeom>
            <a:avLst/>
            <a:gdLst/>
            <a:ahLst/>
            <a:cxnLst/>
            <a:rect l="l" t="t" r="r" b="b"/>
            <a:pathLst>
              <a:path w="3137881" h="770057">
                <a:moveTo>
                  <a:pt x="3137881" y="0"/>
                </a:moveTo>
                <a:lnTo>
                  <a:pt x="0" y="0"/>
                </a:lnTo>
                <a:lnTo>
                  <a:pt x="0" y="770058"/>
                </a:lnTo>
                <a:lnTo>
                  <a:pt x="3137881" y="770058"/>
                </a:lnTo>
                <a:lnTo>
                  <a:pt x="3137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7164" y="1984594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UNDERSTANDING THE DATASET</a:t>
            </a:r>
          </a:p>
        </p:txBody>
      </p:sp>
      <p:sp>
        <p:nvSpPr>
          <p:cNvPr id="4" name="Freeform 4"/>
          <p:cNvSpPr/>
          <p:nvPr/>
        </p:nvSpPr>
        <p:spPr>
          <a:xfrm>
            <a:off x="-1630752" y="7542771"/>
            <a:ext cx="3673741" cy="3673741"/>
          </a:xfrm>
          <a:custGeom>
            <a:avLst/>
            <a:gdLst/>
            <a:ahLst/>
            <a:cxnLst/>
            <a:rect l="l" t="t" r="r" b="b"/>
            <a:pathLst>
              <a:path w="3673741" h="3673741">
                <a:moveTo>
                  <a:pt x="0" y="0"/>
                </a:moveTo>
                <a:lnTo>
                  <a:pt x="3673742" y="0"/>
                </a:lnTo>
                <a:lnTo>
                  <a:pt x="3673742" y="3673742"/>
                </a:lnTo>
                <a:lnTo>
                  <a:pt x="0" y="3673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420121">
            <a:off x="-2558119" y="8790731"/>
            <a:ext cx="7627869" cy="7712000"/>
          </a:xfrm>
          <a:custGeom>
            <a:avLst/>
            <a:gdLst/>
            <a:ahLst/>
            <a:cxnLst/>
            <a:rect l="l" t="t" r="r" b="b"/>
            <a:pathLst>
              <a:path w="7627869" h="7712000">
                <a:moveTo>
                  <a:pt x="0" y="0"/>
                </a:moveTo>
                <a:lnTo>
                  <a:pt x="7627869" y="0"/>
                </a:lnTo>
                <a:lnTo>
                  <a:pt x="7627869" y="7712000"/>
                </a:lnTo>
                <a:lnTo>
                  <a:pt x="0" y="7712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354451" y="2387025"/>
            <a:ext cx="5860513" cy="4999236"/>
          </a:xfrm>
          <a:custGeom>
            <a:avLst/>
            <a:gdLst/>
            <a:ahLst/>
            <a:cxnLst/>
            <a:rect l="l" t="t" r="r" b="b"/>
            <a:pathLst>
              <a:path w="5860513" h="4999236">
                <a:moveTo>
                  <a:pt x="0" y="0"/>
                </a:moveTo>
                <a:lnTo>
                  <a:pt x="5860513" y="0"/>
                </a:lnTo>
                <a:lnTo>
                  <a:pt x="5860513" y="4999235"/>
                </a:lnTo>
                <a:lnTo>
                  <a:pt x="0" y="49992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76933" y="-3472657"/>
            <a:ext cx="5264450" cy="4762458"/>
          </a:xfrm>
          <a:custGeom>
            <a:avLst/>
            <a:gdLst/>
            <a:ahLst/>
            <a:cxnLst/>
            <a:rect l="l" t="t" r="r" b="b"/>
            <a:pathLst>
              <a:path w="5264450" h="4762458">
                <a:moveTo>
                  <a:pt x="0" y="0"/>
                </a:moveTo>
                <a:lnTo>
                  <a:pt x="5264449" y="0"/>
                </a:lnTo>
                <a:lnTo>
                  <a:pt x="5264449" y="4762457"/>
                </a:lnTo>
                <a:lnTo>
                  <a:pt x="0" y="47624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9058577">
            <a:off x="15460292" y="7254551"/>
            <a:ext cx="5655415" cy="5776361"/>
          </a:xfrm>
          <a:custGeom>
            <a:avLst/>
            <a:gdLst/>
            <a:ahLst/>
            <a:cxnLst/>
            <a:rect l="l" t="t" r="r" b="b"/>
            <a:pathLst>
              <a:path w="5655415" h="5776361">
                <a:moveTo>
                  <a:pt x="0" y="0"/>
                </a:moveTo>
                <a:lnTo>
                  <a:pt x="5655416" y="0"/>
                </a:lnTo>
                <a:lnTo>
                  <a:pt x="5655416" y="5776361"/>
                </a:lnTo>
                <a:lnTo>
                  <a:pt x="0" y="57763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886910">
            <a:off x="12428540" y="9630662"/>
            <a:ext cx="1911047" cy="1881079"/>
          </a:xfrm>
          <a:custGeom>
            <a:avLst/>
            <a:gdLst/>
            <a:ahLst/>
            <a:cxnLst/>
            <a:rect l="l" t="t" r="r" b="b"/>
            <a:pathLst>
              <a:path w="1911047" h="1881079">
                <a:moveTo>
                  <a:pt x="0" y="0"/>
                </a:moveTo>
                <a:lnTo>
                  <a:pt x="1911047" y="0"/>
                </a:lnTo>
                <a:lnTo>
                  <a:pt x="1911047" y="1881079"/>
                </a:lnTo>
                <a:lnTo>
                  <a:pt x="0" y="1881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257424" y="3663551"/>
            <a:ext cx="13311617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27665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EDGAR-CORPUS · 10 filings · 8 industries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3861" y="4791392"/>
            <a:ext cx="5385495" cy="428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Arcimoto (EVs)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· Heritage Financial (banking)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· Oak Valley Bancorp (banking)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· MJ Holdings (cannabis)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· Biopharmaceutical (pharma)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· Joway Health (China/PRC)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· Self-administered REIT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· Smaller reporting co. (exempt)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950AFE-D68B-E341-0B59-8B24FC64025E}"/>
              </a:ext>
            </a:extLst>
          </p:cNvPr>
          <p:cNvSpPr txBox="1"/>
          <p:nvPr/>
        </p:nvSpPr>
        <p:spPr>
          <a:xfrm>
            <a:off x="15621000" y="8496300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97932" y="400000"/>
            <a:ext cx="16692136" cy="1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6000">
                <a:solidFill>
                  <a:srgbClr val="276655"/>
                </a:solidFill>
                <a:latin typeface="Baloo Chettan"/>
              </a:rPr>
              <a:t>BACKGROUND &amp; RELATED WORK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97932" y="1300000"/>
            <a:ext cx="17351391" cy="751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2050" b="1" dirty="0">
                <a:solidFill>
                  <a:srgbClr val="276655"/>
                </a:solidFill>
                <a:latin typeface="Aharoni CLM"/>
              </a:rPr>
              <a:t>Lewis et al. (2020) — RAG Framework</a:t>
            </a:r>
          </a:p>
          <a:p>
            <a:pPr algn="l">
              <a:lnSpc>
                <a:spcPts val="7000"/>
              </a:lnSpc>
            </a:pPr>
            <a:r>
              <a:rPr lang="en-US" sz="2050" dirty="0">
                <a:solidFill>
                  <a:srgbClr val="444444"/>
                </a:solidFill>
                <a:latin typeface="Aharoni CLM"/>
              </a:rPr>
              <a:t>Introduced dense retrieval + seq2seq generation. Grounding LLM outputs in retrieved documents reduces hallucination on knowledge-intensive tasks.</a:t>
            </a:r>
            <a:r>
              <a:rPr lang="en-US" sz="2050" dirty="0">
                <a:solidFill>
                  <a:srgbClr val="FDFEFD"/>
                </a:solidFill>
              </a:rPr>
              <a:t> </a:t>
            </a:r>
          </a:p>
          <a:p>
            <a:pPr algn="l">
              <a:lnSpc>
                <a:spcPts val="8000"/>
              </a:lnSpc>
            </a:pPr>
            <a:r>
              <a:rPr lang="en-US" sz="2050" b="1" dirty="0">
                <a:solidFill>
                  <a:srgbClr val="276655"/>
                </a:solidFill>
                <a:latin typeface="Aharoni CLM"/>
              </a:rPr>
              <a:t>Es et al. (2023) — RAGAS Evaluation</a:t>
            </a:r>
          </a:p>
          <a:p>
            <a:pPr algn="l">
              <a:lnSpc>
                <a:spcPts val="7000"/>
              </a:lnSpc>
            </a:pPr>
            <a:r>
              <a:rPr lang="en-US" sz="2050" dirty="0">
                <a:solidFill>
                  <a:srgbClr val="444444"/>
                </a:solidFill>
                <a:latin typeface="Aharoni CLM"/>
              </a:rPr>
              <a:t>Reference-free RAG evaluation: Faithfulness, Answer Relevancy, Context Precision, Context Recall. LLM-as-judge scoring without human annotation.</a:t>
            </a:r>
            <a:r>
              <a:rPr lang="en-US" sz="2050" dirty="0">
                <a:solidFill>
                  <a:srgbClr val="FDFEFD"/>
                </a:solidFill>
              </a:rPr>
              <a:t> </a:t>
            </a:r>
          </a:p>
          <a:p>
            <a:pPr algn="l">
              <a:lnSpc>
                <a:spcPts val="8000"/>
              </a:lnSpc>
            </a:pPr>
            <a:r>
              <a:rPr lang="en-US" sz="2050" b="1" dirty="0">
                <a:solidFill>
                  <a:srgbClr val="276655"/>
                </a:solidFill>
                <a:latin typeface="Aharoni CLM"/>
              </a:rPr>
              <a:t>Loukas et al. (2021) — EDGAR-CORPUS</a:t>
            </a:r>
          </a:p>
          <a:p>
            <a:pPr algn="l">
              <a:lnSpc>
                <a:spcPts val="7000"/>
              </a:lnSpc>
            </a:pPr>
            <a:r>
              <a:rPr lang="en-US" sz="2050" dirty="0">
                <a:solidFill>
                  <a:srgbClr val="444444"/>
                </a:solidFill>
                <a:latin typeface="Aharoni CLM"/>
              </a:rPr>
              <a:t>6,500+ SEC 10-K filings pre-split into 20 structured sections. Financial NLP requires domain-specific preprocessing due to heterogeneous structure and dense numerical content.</a:t>
            </a:r>
          </a:p>
          <a:p>
            <a:pPr algn="l">
              <a:lnSpc>
                <a:spcPts val="8000"/>
              </a:lnSpc>
            </a:pPr>
            <a:r>
              <a:rPr lang="en-US" sz="2050" dirty="0">
                <a:solidFill>
                  <a:srgbClr val="FDFEFD"/>
                </a:solidFill>
              </a:rPr>
              <a:t> </a:t>
            </a:r>
            <a:r>
              <a:rPr lang="en-US" sz="2050" b="1" dirty="0">
                <a:solidFill>
                  <a:srgbClr val="276655"/>
                </a:solidFill>
                <a:latin typeface="Aharoni CLM"/>
              </a:rPr>
              <a:t>This project differs: </a:t>
            </a:r>
            <a:r>
              <a:rPr lang="en-US" sz="2050" dirty="0">
                <a:solidFill>
                  <a:srgbClr val="444444"/>
                </a:solidFill>
                <a:latin typeface="Aharoni CLM"/>
              </a:rPr>
              <a:t>systematic retrieval failure classification + controlled chunking comparison on a domain-specific financial benchmark.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F680BB-EB4F-4FAF-7628-3D029BE818E8}"/>
              </a:ext>
            </a:extLst>
          </p:cNvPr>
          <p:cNvSpPr txBox="1"/>
          <p:nvPr/>
        </p:nvSpPr>
        <p:spPr>
          <a:xfrm>
            <a:off x="16938000" y="9200408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63404" y="0"/>
            <a:ext cx="3137881" cy="770057"/>
          </a:xfrm>
          <a:custGeom>
            <a:avLst/>
            <a:gdLst/>
            <a:ahLst/>
            <a:cxnLst/>
            <a:rect l="l" t="t" r="r" b="b"/>
            <a:pathLst>
              <a:path w="3137881" h="770057">
                <a:moveTo>
                  <a:pt x="3137881" y="0"/>
                </a:moveTo>
                <a:lnTo>
                  <a:pt x="0" y="0"/>
                </a:lnTo>
                <a:lnTo>
                  <a:pt x="0" y="770057"/>
                </a:lnTo>
                <a:lnTo>
                  <a:pt x="3137881" y="770057"/>
                </a:lnTo>
                <a:lnTo>
                  <a:pt x="3137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93371" y="1794025"/>
            <a:ext cx="13407475" cy="6636700"/>
          </a:xfrm>
          <a:custGeom>
            <a:avLst/>
            <a:gdLst/>
            <a:ahLst/>
            <a:cxnLst/>
            <a:rect l="l" t="t" r="r" b="b"/>
            <a:pathLst>
              <a:path w="13407475" h="6636700">
                <a:moveTo>
                  <a:pt x="0" y="0"/>
                </a:moveTo>
                <a:lnTo>
                  <a:pt x="13407474" y="0"/>
                </a:lnTo>
                <a:lnTo>
                  <a:pt x="13407474" y="6636700"/>
                </a:lnTo>
                <a:lnTo>
                  <a:pt x="0" y="663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7164" y="416075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SEMANTIC CHUNKING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36323" y="8834631"/>
            <a:ext cx="3396227" cy="12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27665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Cuts noise by 24%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2485" y="8815581"/>
            <a:ext cx="4633417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4,877 -&gt; 3,700 total chunks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$0.0195 -&gt; $0.0148 embedding cost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53s -&gt; 27s index build time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0D9A6-BB3E-BDEB-10A5-DE4E1E1ABBD4}"/>
              </a:ext>
            </a:extLst>
          </p:cNvPr>
          <p:cNvSpPr txBox="1"/>
          <p:nvPr/>
        </p:nvSpPr>
        <p:spPr>
          <a:xfrm>
            <a:off x="16519846" y="9387180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8073" y="643671"/>
            <a:ext cx="3137881" cy="770057"/>
          </a:xfrm>
          <a:custGeom>
            <a:avLst/>
            <a:gdLst/>
            <a:ahLst/>
            <a:cxnLst/>
            <a:rect l="l" t="t" r="r" b="b"/>
            <a:pathLst>
              <a:path w="3137881" h="770057">
                <a:moveTo>
                  <a:pt x="3137881" y="0"/>
                </a:moveTo>
                <a:lnTo>
                  <a:pt x="0" y="0"/>
                </a:lnTo>
                <a:lnTo>
                  <a:pt x="0" y="770058"/>
                </a:lnTo>
                <a:lnTo>
                  <a:pt x="3137881" y="770058"/>
                </a:lnTo>
                <a:lnTo>
                  <a:pt x="3137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7932" y="1135199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SEMANTIC CHUNKING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42122" y="4356705"/>
            <a:ext cx="3891319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Split text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into sentences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26923" y="4090005"/>
            <a:ext cx="4661653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Embed each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sentence with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MiniLM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08180" y="2677970"/>
            <a:ext cx="1761530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PROCESS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12624" y="4356705"/>
            <a:ext cx="3219649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Measure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cosine similarity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between adjacent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sentences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01912" y="4394805"/>
            <a:ext cx="2445048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Cut when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similarity drops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below 0.5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 dirty="0">
                <a:solidFill>
                  <a:srgbClr val="276655"/>
                </a:solidFill>
                <a:latin typeface="Aharoni CLM"/>
              </a:rPr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17F1ED-D56E-EFA5-D567-2CF556986B27}"/>
              </a:ext>
            </a:extLst>
          </p:cNvPr>
          <p:cNvSpPr txBox="1"/>
          <p:nvPr/>
        </p:nvSpPr>
        <p:spPr>
          <a:xfrm>
            <a:off x="15621000" y="8496300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0737" y="3376988"/>
            <a:ext cx="3533023" cy="1766512"/>
            <a:chOff x="0" y="0"/>
            <a:chExt cx="8128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665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16550" y="258763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ALTERNATIVE PIPELINE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063760" y="3376988"/>
            <a:ext cx="3533023" cy="1766512"/>
            <a:chOff x="0" y="0"/>
            <a:chExt cx="812800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665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04794" y="3376988"/>
            <a:ext cx="3533023" cy="1766512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665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45828" y="3376988"/>
            <a:ext cx="3533023" cy="1766512"/>
            <a:chOff x="0" y="0"/>
            <a:chExt cx="81280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665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536262" y="3376988"/>
            <a:ext cx="3533023" cy="1766512"/>
            <a:chOff x="0" y="0"/>
            <a:chExt cx="81280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665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[Cross-encoder rerank] 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74726" y="6409565"/>
            <a:ext cx="3550540" cy="1775270"/>
            <a:chOff x="0" y="0"/>
            <a:chExt cx="812800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6655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Top 5    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924746" y="6409565"/>
            <a:ext cx="3550540" cy="1775270"/>
            <a:chOff x="0" y="0"/>
            <a:chExt cx="812800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6655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GPT-4o-mini 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82841" y="6409565"/>
            <a:ext cx="3550540" cy="1775270"/>
            <a:chOff x="0" y="0"/>
            <a:chExt cx="812800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6655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Answer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840935" y="6409565"/>
            <a:ext cx="3550540" cy="1775270"/>
            <a:chOff x="0" y="0"/>
            <a:chExt cx="812800" cy="406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6655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[Low-confidence detector]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391476" y="6409565"/>
            <a:ext cx="3550540" cy="1775270"/>
            <a:chOff x="0" y="0"/>
            <a:chExt cx="812800" cy="406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6655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Refuse if no good match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80866" y="3960439"/>
            <a:ext cx="3533023" cy="36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5"/>
              </a:lnSpc>
              <a:spcBef>
                <a:spcPct val="0"/>
              </a:spcBef>
            </a:pPr>
            <a:r>
              <a:rPr lang="en-US" sz="2175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Query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20970" y="3960439"/>
            <a:ext cx="3533023" cy="36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5"/>
              </a:lnSpc>
              <a:spcBef>
                <a:spcPct val="0"/>
              </a:spcBef>
            </a:pPr>
            <a:r>
              <a:rPr lang="en-US" sz="2175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Embed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75388" y="3769612"/>
            <a:ext cx="3533023" cy="746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5"/>
              </a:lnSpc>
              <a:spcBef>
                <a:spcPct val="0"/>
              </a:spcBef>
            </a:pPr>
            <a:r>
              <a:rPr lang="en-US" sz="2175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[Filter by </a:t>
            </a:r>
          </a:p>
          <a:p>
            <a:pPr marL="0" lvl="0" indent="0" algn="ctr">
              <a:lnSpc>
                <a:spcPts val="3045"/>
              </a:lnSpc>
              <a:spcBef>
                <a:spcPct val="0"/>
              </a:spcBef>
            </a:pPr>
            <a:r>
              <a:rPr lang="en-US" sz="2175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section]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03239" y="3769612"/>
            <a:ext cx="3533023" cy="746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5"/>
              </a:lnSpc>
              <a:spcBef>
                <a:spcPct val="0"/>
              </a:spcBef>
            </a:pPr>
            <a:r>
              <a:rPr lang="en-US" sz="2175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FAISS </a:t>
            </a:r>
          </a:p>
          <a:p>
            <a:pPr marL="0" lvl="0" indent="0" algn="ctr">
              <a:lnSpc>
                <a:spcPts val="3045"/>
              </a:lnSpc>
              <a:spcBef>
                <a:spcPct val="0"/>
              </a:spcBef>
            </a:pPr>
            <a:r>
              <a:rPr lang="en-US" sz="2175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(top 20)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8CA2E5-40CA-B629-CBB7-F52C43579976}"/>
              </a:ext>
            </a:extLst>
          </p:cNvPr>
          <p:cNvSpPr txBox="1"/>
          <p:nvPr/>
        </p:nvSpPr>
        <p:spPr>
          <a:xfrm>
            <a:off x="16991304" y="9246367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8073" y="643671"/>
            <a:ext cx="3137881" cy="770057"/>
          </a:xfrm>
          <a:custGeom>
            <a:avLst/>
            <a:gdLst/>
            <a:ahLst/>
            <a:cxnLst/>
            <a:rect l="l" t="t" r="r" b="b"/>
            <a:pathLst>
              <a:path w="3137881" h="770057">
                <a:moveTo>
                  <a:pt x="3137881" y="0"/>
                </a:moveTo>
                <a:lnTo>
                  <a:pt x="0" y="0"/>
                </a:lnTo>
                <a:lnTo>
                  <a:pt x="0" y="770058"/>
                </a:lnTo>
                <a:lnTo>
                  <a:pt x="3137881" y="770058"/>
                </a:lnTo>
                <a:lnTo>
                  <a:pt x="3137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98073" y="1637902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ALTERNATIVE PIPELINE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30873" y="4522253"/>
            <a:ext cx="4827387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Routes queries to likely section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Disabled for cross-section questions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18965" y="4518936"/>
            <a:ext cx="4661653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Scores query+chunk jointly Score range: 0.44 to -4.69 vs FAISS 0.55 to 0.51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58260" y="3445786"/>
            <a:ext cx="4983063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Cross-encoder reranking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37349" y="4522253"/>
            <a:ext cx="4986384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Refuses when top scores cluster low Prevents hallucination on unanswerable queries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34359" y="3445786"/>
            <a:ext cx="3568204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Metadata filtering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33500" y="3445786"/>
            <a:ext cx="5256709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 Low-confidence detector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8073" y="643671"/>
            <a:ext cx="3137881" cy="770057"/>
          </a:xfrm>
          <a:custGeom>
            <a:avLst/>
            <a:gdLst/>
            <a:ahLst/>
            <a:cxnLst/>
            <a:rect l="l" t="t" r="r" b="b"/>
            <a:pathLst>
              <a:path w="3137881" h="770057">
                <a:moveTo>
                  <a:pt x="3137881" y="0"/>
                </a:moveTo>
                <a:lnTo>
                  <a:pt x="0" y="0"/>
                </a:lnTo>
                <a:lnTo>
                  <a:pt x="0" y="770058"/>
                </a:lnTo>
                <a:lnTo>
                  <a:pt x="3137881" y="770058"/>
                </a:lnTo>
                <a:lnTo>
                  <a:pt x="3137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98182" y="2758263"/>
            <a:ext cx="9571092" cy="5694800"/>
          </a:xfrm>
          <a:custGeom>
            <a:avLst/>
            <a:gdLst/>
            <a:ahLst/>
            <a:cxnLst/>
            <a:rect l="l" t="t" r="r" b="b"/>
            <a:pathLst>
              <a:path w="9571092" h="5694800">
                <a:moveTo>
                  <a:pt x="0" y="0"/>
                </a:moveTo>
                <a:lnTo>
                  <a:pt x="9571092" y="0"/>
                </a:lnTo>
                <a:lnTo>
                  <a:pt x="9571092" y="5694800"/>
                </a:lnTo>
                <a:lnTo>
                  <a:pt x="0" y="569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97932" y="258763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RAGAS 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66896" y="1932582"/>
            <a:ext cx="3918843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Alternative pipeline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7600950"/>
            <a:ext cx="4418148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Context Precision: +43% Context Recall: +15% Tradeoff: 3× slower (1.5s -&gt; 4.6s per query)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A6D16-5156-AD6B-B6D8-82F6BD3D98A4}"/>
              </a:ext>
            </a:extLst>
          </p:cNvPr>
          <p:cNvSpPr txBox="1"/>
          <p:nvPr/>
        </p:nvSpPr>
        <p:spPr>
          <a:xfrm>
            <a:off x="16306800" y="9079329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143000" y="190500"/>
            <a:ext cx="175000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6000" dirty="0">
                <a:solidFill>
                  <a:srgbClr val="276655"/>
                </a:solidFill>
                <a:latin typeface="Baloo Chettan"/>
              </a:rPr>
              <a:t>FAISS RETRIEVAL POOL SIZE ABLATION</a:t>
            </a:r>
          </a:p>
        </p:txBody>
      </p:sp>
      <p:sp>
        <p:nvSpPr>
          <p:cNvPr id="6" name="Box2"/>
          <p:cNvSpPr txBox="1"/>
          <p:nvPr/>
        </p:nvSpPr>
        <p:spPr>
          <a:xfrm>
            <a:off x="12035678" y="4122694"/>
            <a:ext cx="6277400" cy="5937806"/>
          </a:xfrm>
          <a:prstGeom prst="rect">
            <a:avLst/>
          </a:prstGeom>
          <a:solidFill>
            <a:srgbClr val="E8F5F0"/>
          </a:solidFill>
          <a:ln>
            <a:solidFill>
              <a:srgbClr val="276655"/>
            </a:solidFill>
          </a:ln>
        </p:spPr>
        <p:txBody>
          <a:bodyPr wrap="square" lIns="200000" tIns="150000" rIns="200000" bIns="150000" rtlCol="0" anchor="ctr">
            <a:spAutoFit/>
          </a:bodyPr>
          <a:lstStyle/>
          <a:p>
            <a:r>
              <a:rPr lang="en-US" sz="2200" dirty="0">
                <a:solidFill>
                  <a:srgbClr val="276655"/>
                </a:solidFill>
                <a:latin typeface="Aharoni CLM"/>
              </a:rPr>
              <a:t>Optimal: </a:t>
            </a:r>
            <a:r>
              <a:rPr lang="en-US" sz="2200" dirty="0" err="1">
                <a:solidFill>
                  <a:srgbClr val="276655"/>
                </a:solidFill>
                <a:latin typeface="Aharoni CLM"/>
              </a:rPr>
              <a:t>pool_size</a:t>
            </a:r>
            <a:r>
              <a:rPr lang="en-US" sz="2200" dirty="0">
                <a:solidFill>
                  <a:srgbClr val="276655"/>
                </a:solidFill>
                <a:latin typeface="Aharoni CLM"/>
              </a:rPr>
              <a:t> = 15</a:t>
            </a:r>
          </a:p>
          <a:p>
            <a:r>
              <a:rPr lang="en-US" sz="2200" dirty="0">
                <a:solidFill>
                  <a:srgbClr val="276655"/>
                </a:solidFill>
                <a:latin typeface="Aharoni CLM"/>
              </a:rPr>
              <a:t>Precision: 0.758  |  Recall: 0.713  |  Latency: 3.56s</a:t>
            </a:r>
          </a:p>
          <a:p>
            <a:pPr algn="l">
              <a:lnSpc>
                <a:spcPts val="8000"/>
              </a:lnSpc>
            </a:pPr>
            <a:r>
              <a:rPr lang="en-US" sz="2200" dirty="0">
                <a:solidFill>
                  <a:srgbClr val="276655"/>
                </a:solidFill>
                <a:latin typeface="Aharoni CLM"/>
              </a:rPr>
              <a:t>**Pool size ablated : empirical optimum is K=15</a:t>
            </a:r>
          </a:p>
          <a:p>
            <a:pPr algn="l">
              <a:lnSpc>
                <a:spcPts val="8000"/>
              </a:lnSpc>
              <a:buFont typeface="Arial"/>
              <a:buChar char="•"/>
            </a:pPr>
            <a:r>
              <a:rPr lang="en-US" sz="2200" dirty="0">
                <a:solidFill>
                  <a:srgbClr val="276655"/>
                </a:solidFill>
                <a:latin typeface="Aharoni CLM"/>
              </a:rPr>
              <a:t> Default k=20 was suboptimal</a:t>
            </a:r>
          </a:p>
          <a:p>
            <a:pPr algn="l">
              <a:lnSpc>
                <a:spcPts val="8000"/>
              </a:lnSpc>
              <a:buFont typeface="Arial"/>
              <a:buChar char="•"/>
            </a:pPr>
            <a:r>
              <a:rPr lang="en-US" sz="2200" dirty="0">
                <a:solidFill>
                  <a:srgbClr val="276655"/>
                </a:solidFill>
                <a:latin typeface="Aharoni CLM"/>
              </a:rPr>
              <a:t> k=15 is 21% faster with higher precision</a:t>
            </a:r>
          </a:p>
          <a:p>
            <a:pPr algn="l">
              <a:lnSpc>
                <a:spcPts val="8000"/>
              </a:lnSpc>
              <a:buFont typeface="Arial"/>
              <a:buChar char="•"/>
            </a:pPr>
            <a:r>
              <a:rPr lang="en-US" sz="2200" dirty="0">
                <a:solidFill>
                  <a:srgbClr val="276655"/>
                </a:solidFill>
                <a:latin typeface="Aharoni CLM"/>
              </a:rPr>
              <a:t> Beyond k=15 latency climbs with no quality gain</a:t>
            </a:r>
          </a:p>
        </p:txBody>
      </p:sp>
      <p:sp>
        <p:nvSpPr>
          <p:cNvPr id="8" name="Strip"/>
          <p:cNvSpPr txBox="1"/>
          <p:nvPr/>
        </p:nvSpPr>
        <p:spPr>
          <a:xfrm>
            <a:off x="-599640" y="12168400"/>
            <a:ext cx="17900000" cy="4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/>
            <a:r>
              <a:rPr lang="en-US" sz="1800" dirty="0">
                <a:solidFill>
                  <a:srgbClr val="888888"/>
                </a:solidFill>
                <a:latin typeface="Aharoni CLM"/>
              </a:rPr>
              <a:t>\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6315600" y="99721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16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C58A07-7A66-24A8-20DF-449385EDA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46" y="2324100"/>
            <a:ext cx="11273580" cy="4264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8073" y="643671"/>
            <a:ext cx="3137881" cy="770057"/>
          </a:xfrm>
          <a:custGeom>
            <a:avLst/>
            <a:gdLst/>
            <a:ahLst/>
            <a:cxnLst/>
            <a:rect l="l" t="t" r="r" b="b"/>
            <a:pathLst>
              <a:path w="3137881" h="770057">
                <a:moveTo>
                  <a:pt x="3137881" y="0"/>
                </a:moveTo>
                <a:lnTo>
                  <a:pt x="0" y="0"/>
                </a:lnTo>
                <a:lnTo>
                  <a:pt x="0" y="770058"/>
                </a:lnTo>
                <a:lnTo>
                  <a:pt x="3137881" y="770058"/>
                </a:lnTo>
                <a:lnTo>
                  <a:pt x="3137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98073" y="1637902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RESULTS BY TIER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30873" y="4522253"/>
            <a:ext cx="4827387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Basic retrieval works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18965" y="4518936"/>
            <a:ext cx="4661653" cy="321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Cross-section questions dropped to 0.22 with over-filtering  -&gt; Fixed by disabling metadata filter for synthesis questions -&gt; 0.37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22543" y="3445786"/>
            <a:ext cx="1054497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Tier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37349" y="4522253"/>
            <a:ext cx="4986384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RAGAS penalizes correct refusals - custom metric needed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91213" y="3445786"/>
            <a:ext cx="1054497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Tier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34606" y="3445786"/>
            <a:ext cx="1054497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Tier 3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58CD22-52D2-B67D-CEAD-3399661AEBDA}"/>
              </a:ext>
            </a:extLst>
          </p:cNvPr>
          <p:cNvSpPr txBox="1"/>
          <p:nvPr/>
        </p:nvSpPr>
        <p:spPr>
          <a:xfrm>
            <a:off x="16438000" y="9105900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97932" y="400000"/>
            <a:ext cx="16692136" cy="1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6000">
                <a:solidFill>
                  <a:srgbClr val="276655"/>
                </a:solidFill>
                <a:latin typeface="Baloo Chettan"/>
              </a:rPr>
              <a:t>BENCHMARK STATISTICS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074262"/>
              </p:ext>
            </p:extLst>
          </p:nvPr>
        </p:nvGraphicFramePr>
        <p:xfrm>
          <a:off x="700000" y="1700000"/>
          <a:ext cx="15500000" cy="44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Aharoni CLM"/>
                        </a:rPr>
                        <a:t>Dimension</a:t>
                      </a:r>
                    </a:p>
                  </a:txBody>
                  <a:tcPr>
                    <a:solidFill>
                      <a:srgbClr val="2766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Aharoni CLM"/>
                        </a:rPr>
                        <a:t>Tier 1</a:t>
                      </a:r>
                    </a:p>
                  </a:txBody>
                  <a:tcPr>
                    <a:solidFill>
                      <a:srgbClr val="2766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Aharoni CLM"/>
                        </a:rPr>
                        <a:t>Tier 2</a:t>
                      </a:r>
                    </a:p>
                  </a:txBody>
                  <a:tcPr>
                    <a:solidFill>
                      <a:srgbClr val="2766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Aharoni CLM"/>
                        </a:rPr>
                        <a:t>Tier 3</a:t>
                      </a:r>
                    </a:p>
                  </a:txBody>
                  <a:tcPr>
                    <a:solidFill>
                      <a:srgbClr val="2766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Aharoni CLM"/>
                        </a:rPr>
                        <a:t>Total</a:t>
                      </a:r>
                    </a:p>
                  </a:txBody>
                  <a:tcPr>
                    <a:solidFill>
                      <a:srgbClr val="2766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Aharoni CLM"/>
                        </a:rPr>
                        <a:t>Notes</a:t>
                      </a:r>
                    </a:p>
                  </a:txBody>
                  <a:tcPr>
                    <a:solidFill>
                      <a:srgbClr val="2766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276655"/>
                          </a:solidFill>
                          <a:latin typeface="Aharoni CLM"/>
                        </a:rPr>
                        <a:t>Questions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276655"/>
                          </a:solidFill>
                          <a:latin typeface="Aharoni CLM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Equal split per tier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276655"/>
                          </a:solidFill>
                          <a:latin typeface="Aharoni CLM"/>
                        </a:rPr>
                        <a:t>Type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Single-section lookup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Cross-section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Adversarial / hallucination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3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Escalating difficulty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276655"/>
                          </a:solidFill>
                          <a:latin typeface="Aharoni CLM"/>
                        </a:rPr>
                        <a:t>Difficulty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Easy /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Medium / Hard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Hard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Aharoni CLM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T3 all hard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276655"/>
                          </a:solidFill>
                          <a:latin typeface="Aharoni CLM"/>
                        </a:rPr>
                        <a:t>Correct answer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Factual answer from filing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Synthesized cross-section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Structured refusal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Aharoni CLM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T3 always refuses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276655"/>
                          </a:solidFill>
                          <a:latin typeface="Aharoni CLM"/>
                        </a:rPr>
                        <a:t>Failure tested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Retrieval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Cross-section synthesis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Hallucination / coverage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All 3 modes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Designed to isolate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276655"/>
                          </a:solidFill>
                          <a:latin typeface="Aharoni CLM"/>
                        </a:rPr>
                        <a:t>Avg faithfulness</a:t>
                      </a:r>
                    </a:p>
                  </a:txBody>
                  <a:tcPr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0.60 (alt pipeline)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0.37 (alt pipeline)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0.08 (all pipelines)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333333"/>
                          </a:solidFill>
                          <a:latin typeface="Aharoni CLM"/>
                        </a:rPr>
                        <a:t>0.35 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333333"/>
                          </a:solidFill>
                          <a:latin typeface="Aharoni CLM"/>
                        </a:rPr>
                        <a:t>T3 low by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D629E1-C3D9-DB60-E3DF-668A80865B21}"/>
              </a:ext>
            </a:extLst>
          </p:cNvPr>
          <p:cNvSpPr txBox="1"/>
          <p:nvPr/>
        </p:nvSpPr>
        <p:spPr>
          <a:xfrm>
            <a:off x="15621000" y="8496300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8073" y="643671"/>
            <a:ext cx="3137881" cy="770057"/>
          </a:xfrm>
          <a:custGeom>
            <a:avLst/>
            <a:gdLst/>
            <a:ahLst/>
            <a:cxnLst/>
            <a:rect l="l" t="t" r="r" b="b"/>
            <a:pathLst>
              <a:path w="3137881" h="770057">
                <a:moveTo>
                  <a:pt x="3137881" y="0"/>
                </a:moveTo>
                <a:lnTo>
                  <a:pt x="0" y="0"/>
                </a:lnTo>
                <a:lnTo>
                  <a:pt x="0" y="770058"/>
                </a:lnTo>
                <a:lnTo>
                  <a:pt x="3137881" y="770058"/>
                </a:lnTo>
                <a:lnTo>
                  <a:pt x="3137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3867" y="2793162"/>
            <a:ext cx="9373507" cy="6198232"/>
          </a:xfrm>
          <a:custGeom>
            <a:avLst/>
            <a:gdLst/>
            <a:ahLst/>
            <a:cxnLst/>
            <a:rect l="l" t="t" r="r" b="b"/>
            <a:pathLst>
              <a:path w="9373507" h="6198232">
                <a:moveTo>
                  <a:pt x="0" y="0"/>
                </a:moveTo>
                <a:lnTo>
                  <a:pt x="9373508" y="0"/>
                </a:lnTo>
                <a:lnTo>
                  <a:pt x="9373508" y="6198232"/>
                </a:lnTo>
                <a:lnTo>
                  <a:pt x="0" y="6198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97932" y="1135199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FAILURE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37375" y="3536890"/>
            <a:ext cx="7799385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Wrong chunks returned despite answer existing : 45% -&gt; 28% with reranking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10721" y="5505450"/>
            <a:ext cx="7452693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Right chunks, wrong answer LLM adds knowledge beyond context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14754" y="7537919"/>
            <a:ext cx="6775313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Answer not in any filing Target of low-confidence detector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16762" y="3079690"/>
            <a:ext cx="266045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Retrieval failure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01730" y="5048250"/>
            <a:ext cx="311477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Generation failure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77856" y="7019925"/>
            <a:ext cx="256252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Coverage gap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55B5A3-8099-1F45-C3B0-199BA71C1194}"/>
              </a:ext>
            </a:extLst>
          </p:cNvPr>
          <p:cNvSpPr txBox="1"/>
          <p:nvPr/>
        </p:nvSpPr>
        <p:spPr>
          <a:xfrm>
            <a:off x="16230600" y="9088522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7932" y="2122547"/>
            <a:ext cx="10246180" cy="7684635"/>
          </a:xfrm>
          <a:custGeom>
            <a:avLst/>
            <a:gdLst/>
            <a:ahLst/>
            <a:cxnLst/>
            <a:rect l="l" t="t" r="r" b="b"/>
            <a:pathLst>
              <a:path w="10246180" h="7684635">
                <a:moveTo>
                  <a:pt x="0" y="0"/>
                </a:moveTo>
                <a:lnTo>
                  <a:pt x="10246180" y="0"/>
                </a:lnTo>
                <a:lnTo>
                  <a:pt x="10246180" y="7684634"/>
                </a:lnTo>
                <a:lnTo>
                  <a:pt x="0" y="7684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7932" y="424480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TRADEOFFS: PRECISON VS LATENCY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08138" y="5371107"/>
            <a:ext cx="7799385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Fixed baseline:</a:t>
            </a: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fast but imprecise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08138" y="6119885"/>
            <a:ext cx="745269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Semantic baseline:</a:t>
            </a: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marginal gain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08138" y="6946930"/>
            <a:ext cx="677531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76655"/>
                </a:solidFill>
                <a:latin typeface="Aharoni CLM Bold"/>
                <a:ea typeface="Aharoni CLM Bold"/>
                <a:cs typeface="Aharoni CLM Bold"/>
                <a:sym typeface="Aharoni CLM Bold"/>
              </a:rPr>
              <a:t>Alternative:</a:t>
            </a:r>
            <a:r>
              <a:rPr lang="en-US" sz="300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best precision, highest cost 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4B31C-67C5-3E75-9BDD-E0818602D0D2}"/>
              </a:ext>
            </a:extLst>
          </p:cNvPr>
          <p:cNvSpPr txBox="1"/>
          <p:nvPr/>
        </p:nvSpPr>
        <p:spPr>
          <a:xfrm>
            <a:off x="15621000" y="8496300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8073" y="643671"/>
            <a:ext cx="3137881" cy="770057"/>
          </a:xfrm>
          <a:custGeom>
            <a:avLst/>
            <a:gdLst/>
            <a:ahLst/>
            <a:cxnLst/>
            <a:rect l="l" t="t" r="r" b="b"/>
            <a:pathLst>
              <a:path w="3137881" h="770057">
                <a:moveTo>
                  <a:pt x="3137881" y="0"/>
                </a:moveTo>
                <a:lnTo>
                  <a:pt x="0" y="0"/>
                </a:lnTo>
                <a:lnTo>
                  <a:pt x="0" y="770058"/>
                </a:lnTo>
                <a:lnTo>
                  <a:pt x="3137881" y="770058"/>
                </a:lnTo>
                <a:lnTo>
                  <a:pt x="3137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7932" y="1135199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KEY FINDINGS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7932" y="3143295"/>
            <a:ext cx="17351391" cy="532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3" lvl="1" indent="-464181" algn="l">
              <a:lnSpc>
                <a:spcPts val="8513"/>
              </a:lnSpc>
              <a:buFont typeface="Arial"/>
              <a:buChar char="•"/>
            </a:pPr>
            <a:r>
              <a:rPr lang="en-US" sz="4299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Semantic chunking: 24% fewer chunks, same or better scores</a:t>
            </a:r>
          </a:p>
          <a:p>
            <a:pPr marL="928363" lvl="1" indent="-464181" algn="l">
              <a:lnSpc>
                <a:spcPts val="8513"/>
              </a:lnSpc>
              <a:buFont typeface="Arial"/>
              <a:buChar char="•"/>
            </a:pPr>
            <a:r>
              <a:rPr lang="en-US" sz="4299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Cross-encoder reranking: +43% context precision</a:t>
            </a:r>
          </a:p>
          <a:p>
            <a:pPr marL="928363" lvl="1" indent="-464181" algn="l">
              <a:lnSpc>
                <a:spcPts val="8513"/>
              </a:lnSpc>
              <a:buFont typeface="Arial"/>
              <a:buChar char="•"/>
            </a:pPr>
            <a:r>
              <a:rPr lang="en-US" sz="4299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Metadata filtering: helps Tier 1, hurts Tier 2 without cross-section detection </a:t>
            </a:r>
          </a:p>
          <a:p>
            <a:pPr marL="928363" lvl="1" indent="-464181" algn="l">
              <a:lnSpc>
                <a:spcPts val="8513"/>
              </a:lnSpc>
              <a:buFont typeface="Arial"/>
              <a:buChar char="•"/>
            </a:pPr>
            <a:r>
              <a:rPr lang="en-US" sz="4299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Coverage gap is the dominant failure mode in adversarial queries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0EB27-400E-D398-B9C1-67B9059AFFF9}"/>
              </a:ext>
            </a:extLst>
          </p:cNvPr>
          <p:cNvSpPr txBox="1"/>
          <p:nvPr/>
        </p:nvSpPr>
        <p:spPr>
          <a:xfrm>
            <a:off x="15697200" y="9100587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8073" y="643671"/>
            <a:ext cx="3137881" cy="770057"/>
          </a:xfrm>
          <a:custGeom>
            <a:avLst/>
            <a:gdLst/>
            <a:ahLst/>
            <a:cxnLst/>
            <a:rect l="l" t="t" r="r" b="b"/>
            <a:pathLst>
              <a:path w="3137881" h="770057">
                <a:moveTo>
                  <a:pt x="3137881" y="0"/>
                </a:moveTo>
                <a:lnTo>
                  <a:pt x="0" y="0"/>
                </a:lnTo>
                <a:lnTo>
                  <a:pt x="0" y="770058"/>
                </a:lnTo>
                <a:lnTo>
                  <a:pt x="3137881" y="770058"/>
                </a:lnTo>
                <a:lnTo>
                  <a:pt x="3137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7932" y="1135199"/>
            <a:ext cx="16692136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276655"/>
                </a:solidFill>
                <a:latin typeface="Baloo Chettan"/>
                <a:ea typeface="Baloo Chettan"/>
                <a:cs typeface="Baloo Chettan"/>
                <a:sym typeface="Baloo Chettan"/>
              </a:rPr>
              <a:t>NEXT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7932" y="3143295"/>
            <a:ext cx="17351391" cy="315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3" lvl="1" indent="-464181" algn="l">
              <a:lnSpc>
                <a:spcPts val="8513"/>
              </a:lnSpc>
              <a:buFont typeface="Arial"/>
              <a:buChar char="•"/>
            </a:pPr>
            <a:r>
              <a:rPr lang="en-US" sz="4299" dirty="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Full corpus embedding on </a:t>
            </a:r>
            <a:r>
              <a:rPr lang="en-US" sz="4299" dirty="0" err="1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Beocat</a:t>
            </a:r>
            <a:r>
              <a:rPr lang="en-US" sz="4299" dirty="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: 6,500+ filings, GPU acceleration</a:t>
            </a:r>
          </a:p>
          <a:p>
            <a:pPr marL="928363" lvl="1" indent="-464181" algn="l">
              <a:lnSpc>
                <a:spcPts val="8513"/>
              </a:lnSpc>
              <a:buFont typeface="Arial"/>
              <a:buChar char="•"/>
            </a:pPr>
            <a:r>
              <a:rPr lang="en-US" sz="4299" dirty="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Low-confidence detector calibration : domain-specific thresholds</a:t>
            </a:r>
          </a:p>
          <a:p>
            <a:pPr marL="928363" lvl="1" indent="-464181" algn="l">
              <a:lnSpc>
                <a:spcPts val="8513"/>
              </a:lnSpc>
              <a:buFont typeface="Arial"/>
              <a:buChar char="•"/>
            </a:pPr>
            <a:r>
              <a:rPr lang="en-US" sz="4299" dirty="0">
                <a:solidFill>
                  <a:srgbClr val="276655"/>
                </a:solidFill>
                <a:latin typeface="Aharoni CLM"/>
                <a:ea typeface="Aharoni CLM"/>
                <a:cs typeface="Aharoni CLM"/>
                <a:sym typeface="Aharoni CLM"/>
              </a:rPr>
              <a:t> Custom adversarial metric : RAGAS penalizes correct refusals</a:t>
            </a:r>
          </a:p>
        </p:txBody>
      </p:sp>
      <p:sp>
        <p:nvSpPr>
          <p:cNvPr id="99" name="SlideNum"/>
          <p:cNvSpPr txBox="1"/>
          <p:nvPr/>
        </p:nvSpPr>
        <p:spPr>
          <a:xfrm>
            <a:off x="17200000" y="6300000"/>
            <a:ext cx="1000000" cy="45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/>
            <a:r>
              <a:rPr lang="en-US" sz="1600">
                <a:solidFill>
                  <a:srgbClr val="276655"/>
                </a:solidFill>
                <a:latin typeface="Aharoni CLM"/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A0B5F-7617-5B91-715C-0471E1EE9F9D}"/>
              </a:ext>
            </a:extLst>
          </p:cNvPr>
          <p:cNvSpPr txBox="1"/>
          <p:nvPr/>
        </p:nvSpPr>
        <p:spPr>
          <a:xfrm>
            <a:off x="15621000" y="8496300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902</Words>
  <Application>Microsoft Office PowerPoint</Application>
  <PresentationFormat>Custom</PresentationFormat>
  <Paragraphs>203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Canva Sans</vt:lpstr>
      <vt:lpstr>Calibri</vt:lpstr>
      <vt:lpstr>Aharoni CLM Bold</vt:lpstr>
      <vt:lpstr>Aharoni CLM</vt:lpstr>
      <vt:lpstr>Canva Sans Bold</vt:lpstr>
      <vt:lpstr>Baloo Chettan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Chipo Sekabanja</dc:title>
  <cp:lastModifiedBy>Chipo Sekabanja</cp:lastModifiedBy>
  <cp:revision>3</cp:revision>
  <dcterms:created xsi:type="dcterms:W3CDTF">2006-08-16T00:00:00Z</dcterms:created>
  <dcterms:modified xsi:type="dcterms:W3CDTF">2026-05-16T13:34:25Z</dcterms:modified>
  <dc:identifier>DAHJXIRlqXY</dc:identifier>
</cp:coreProperties>
</file>